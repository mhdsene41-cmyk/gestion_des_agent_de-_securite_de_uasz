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1" r:id="rId2"/>
    <p:sldId id="257" r:id="rId3"/>
    <p:sldId id="258" r:id="rId4"/>
    <p:sldId id="259" r:id="rId5"/>
    <p:sldId id="273" r:id="rId6"/>
    <p:sldId id="260" r:id="rId7"/>
    <p:sldId id="261" r:id="rId8"/>
    <p:sldId id="274" r:id="rId9"/>
    <p:sldId id="264" r:id="rId10"/>
    <p:sldId id="275" r:id="rId11"/>
    <p:sldId id="276" r:id="rId12"/>
    <p:sldId id="278" r:id="rId13"/>
    <p:sldId id="266" r:id="rId14"/>
    <p:sldId id="279" r:id="rId15"/>
    <p:sldId id="270" r:id="rId16"/>
    <p:sldId id="268" r:id="rId17"/>
    <p:sldId id="269" r:id="rId18"/>
    <p:sldId id="281" r:id="rId19"/>
    <p:sldId id="282" r:id="rId20"/>
    <p:sldId id="283" r:id="rId21"/>
    <p:sldId id="277" r:id="rId22"/>
    <p:sldId id="284"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91" autoAdjust="0"/>
    <p:restoredTop sz="94280" autoAdjust="0"/>
  </p:normalViewPr>
  <p:slideViewPr>
    <p:cSldViewPr snapToGrid="0" snapToObjects="1">
      <p:cViewPr varScale="1">
        <p:scale>
          <a:sx n="90" d="100"/>
          <a:sy n="90" d="100"/>
        </p:scale>
        <p:origin x="107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977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Aujourd'hui, nous vous présentons notre note de cadrage pour une plateforme web universitaire. Ce document est essentiel pour poser les bases de notre projet informatique. Nous sommes l'équipe de Licence 3 Informatique, encadrée par le Professeur Marie Ndiaye. Nous allons vous détailler les points clés de cette initiative. Passons maintenant au contexte de notre projet.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4474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64753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80939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7730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9613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41867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58521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82728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51941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67268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passé en revue les risques et dépendances, et il est temps de conclure cette note de cadrage. Ce projet de plateforme web universitaire n'est pas juste une amélioration technique, c'est une transformation numérique majeure pour notre institution. Il va garantir une efficacité accrue et une modernité indispensable pour l'expérience étudiante. Nous sommes convaincus que cette plateforme apportera une valeur ajoutée significative. Merci de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205090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7245819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mhdsene41-cmyk/prediction-diabete-machine-learning" TargetMode="Externa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150" y="57150"/>
            <a:ext cx="9029700" cy="5143500"/>
          </a:xfrm>
          <a:prstGeom prst="rect">
            <a:avLst/>
          </a:prstGeom>
        </p:spPr>
      </p:pic>
      <p:sp>
        <p:nvSpPr>
          <p:cNvPr id="4" name="Shape 0"/>
          <p:cNvSpPr/>
          <p:nvPr/>
        </p:nvSpPr>
        <p:spPr>
          <a:xfrm>
            <a:off x="57150" y="192842"/>
            <a:ext cx="9715500" cy="5143500"/>
          </a:xfrm>
          <a:prstGeom prst="rect">
            <a:avLst/>
          </a:prstGeom>
          <a:solidFill>
            <a:srgbClr val="FFFFFF"/>
          </a:solidFill>
          <a:ln/>
        </p:spPr>
      </p:sp>
      <p:sp>
        <p:nvSpPr>
          <p:cNvPr id="5" name="Text 1"/>
          <p:cNvSpPr/>
          <p:nvPr/>
        </p:nvSpPr>
        <p:spPr>
          <a:xfrm>
            <a:off x="937402" y="931540"/>
            <a:ext cx="6429375" cy="487506"/>
          </a:xfrm>
          <a:prstGeom prst="rect">
            <a:avLst/>
          </a:prstGeom>
          <a:noFill/>
          <a:ln/>
        </p:spPr>
        <p:txBody>
          <a:bodyPr wrap="square" lIns="0" tIns="0" rIns="0" bIns="0" rtlCol="0" anchor="t">
            <a:spAutoFit/>
          </a:bodyPr>
          <a:lstStyle/>
          <a:p>
            <a:pPr marL="0" indent="0" algn="l">
              <a:lnSpc>
                <a:spcPct val="88000"/>
              </a:lnSpc>
              <a:buNone/>
            </a:pPr>
            <a:endParaRPr lang="en-US" sz="3600" dirty="0">
              <a:latin typeface="Times New Roman" panose="02020603050405020304" pitchFamily="18" charset="0"/>
              <a:cs typeface="Times New Roman" panose="02020603050405020304" pitchFamily="18" charset="0"/>
            </a:endParaRPr>
          </a:p>
        </p:txBody>
      </p:sp>
      <p:sp>
        <p:nvSpPr>
          <p:cNvPr id="6" name="Text 2"/>
          <p:cNvSpPr/>
          <p:nvPr/>
        </p:nvSpPr>
        <p:spPr>
          <a:xfrm>
            <a:off x="628650" y="2579926"/>
            <a:ext cx="9144000" cy="369332"/>
          </a:xfrm>
          <a:prstGeom prst="rect">
            <a:avLst/>
          </a:prstGeom>
          <a:noFill/>
          <a:ln/>
        </p:spPr>
        <p:txBody>
          <a:bodyPr wrap="square" lIns="0" tIns="0" rIns="0" bIns="0" rtlCol="0" anchor="t">
            <a:spAutoFit/>
          </a:bodyPr>
          <a:lstStyle/>
          <a:p>
            <a:r>
              <a:rPr lang="en-US" sz="2400" smtClean="0">
                <a:solidFill>
                  <a:srgbClr val="FF6D00"/>
                </a:solidFill>
                <a:latin typeface="Times New Roman" panose="02020603050405020304" pitchFamily="18" charset="0"/>
                <a:ea typeface="Montserrat Light" pitchFamily="34" charset="-122"/>
                <a:cs typeface="Times New Roman" panose="02020603050405020304" pitchFamily="18" charset="0"/>
              </a:rPr>
              <a:t> </a:t>
            </a:r>
            <a:r>
              <a:rPr lang="en-US" sz="2400" b="1">
                <a:solidFill>
                  <a:srgbClr val="F47C17"/>
                </a:solidFill>
                <a:latin typeface="Times New Roman" pitchFamily="34" charset="0"/>
                <a:ea typeface="Times New Roman" pitchFamily="34" charset="-122"/>
                <a:cs typeface="Times New Roman" pitchFamily="34" charset="-120"/>
              </a:rPr>
              <a:t>Projet tutoriel </a:t>
            </a:r>
            <a:endParaRPr lang="en-US" sz="2400" dirty="0">
              <a:latin typeface="Times New Roman" panose="02020603050405020304" pitchFamily="18" charset="0"/>
              <a:cs typeface="Times New Roman" panose="02020603050405020304" pitchFamily="18" charset="0"/>
            </a:endParaRPr>
          </a:p>
        </p:txBody>
      </p:sp>
      <p:sp>
        <p:nvSpPr>
          <p:cNvPr id="7" name="Text 3"/>
          <p:cNvSpPr/>
          <p:nvPr/>
        </p:nvSpPr>
        <p:spPr>
          <a:xfrm>
            <a:off x="628650" y="3287157"/>
            <a:ext cx="1304844" cy="284501"/>
          </a:xfrm>
          <a:prstGeom prst="rect">
            <a:avLst/>
          </a:prstGeom>
          <a:noFill/>
          <a:ln/>
        </p:spPr>
        <p:txBody>
          <a:bodyPr wrap="none" lIns="0" tIns="0" rIns="0" bIns="0" rtlCol="0" anchor="t">
            <a:spAutoFit/>
          </a:bodyPr>
          <a:lstStyle/>
          <a:p>
            <a:pPr marL="0" indent="0" algn="l">
              <a:lnSpc>
                <a:spcPct val="128000"/>
              </a:lnSpc>
              <a:buNone/>
            </a:pPr>
            <a:r>
              <a:rPr lang="en-US" sz="1600" b="1" dirty="0">
                <a:solidFill>
                  <a:srgbClr val="1A237E"/>
                </a:solidFill>
                <a:latin typeface="Times New Roman" panose="02020603050405020304" pitchFamily="18" charset="0"/>
                <a:ea typeface="Montserrat ExtraBold" pitchFamily="34" charset="-122"/>
                <a:cs typeface="Times New Roman" panose="02020603050405020304" pitchFamily="18" charset="0"/>
              </a:rPr>
              <a:t>ENCADREUR</a:t>
            </a:r>
            <a:endParaRPr lang="en-US" sz="1600" dirty="0">
              <a:latin typeface="Times New Roman" panose="02020603050405020304" pitchFamily="18" charset="0"/>
              <a:cs typeface="Times New Roman" panose="02020603050405020304" pitchFamily="18" charset="0"/>
            </a:endParaRPr>
          </a:p>
        </p:txBody>
      </p:sp>
      <p:sp>
        <p:nvSpPr>
          <p:cNvPr id="8" name="Text 4"/>
          <p:cNvSpPr/>
          <p:nvPr/>
        </p:nvSpPr>
        <p:spPr>
          <a:xfrm>
            <a:off x="628650" y="3551811"/>
            <a:ext cx="1524007" cy="275781"/>
          </a:xfrm>
          <a:prstGeom prst="rect">
            <a:avLst/>
          </a:prstGeom>
          <a:noFill/>
          <a:ln/>
        </p:spPr>
        <p:txBody>
          <a:bodyPr wrap="none" lIns="0" tIns="0" rIns="0" bIns="0" rtlCol="0" anchor="t">
            <a:spAutoFit/>
          </a:bodyPr>
          <a:lstStyle/>
          <a:p>
            <a:pPr marL="0" indent="0" algn="l">
              <a:lnSpc>
                <a:spcPct val="128000"/>
              </a:lnSpc>
              <a:buNone/>
            </a:pPr>
            <a:r>
              <a:rPr lang="en-US" sz="1400" b="1">
                <a:latin typeface="Times New Roman" panose="02020603050405020304" pitchFamily="18" charset="0"/>
                <a:ea typeface="Montserrat Light" pitchFamily="34" charset="-122"/>
                <a:cs typeface="Times New Roman" panose="02020603050405020304" pitchFamily="18" charset="0"/>
              </a:rPr>
              <a:t>Pr</a:t>
            </a:r>
            <a:r>
              <a:rPr lang="en-US" sz="1400" b="1" smtClean="0">
                <a:latin typeface="Times New Roman" panose="02020603050405020304" pitchFamily="18" charset="0"/>
                <a:ea typeface="Montserrat Light" pitchFamily="34" charset="-122"/>
                <a:cs typeface="Times New Roman" panose="02020603050405020304" pitchFamily="18" charset="0"/>
              </a:rPr>
              <a:t>. Serigne Diangne</a:t>
            </a:r>
            <a:endParaRPr lang="en-US" sz="1400" b="1" dirty="0">
              <a:latin typeface="Times New Roman" panose="02020603050405020304" pitchFamily="18" charset="0"/>
              <a:cs typeface="Times New Roman" panose="02020603050405020304" pitchFamily="18" charset="0"/>
            </a:endParaRPr>
          </a:p>
        </p:txBody>
      </p:sp>
      <p:sp>
        <p:nvSpPr>
          <p:cNvPr id="9" name="Text 5"/>
          <p:cNvSpPr/>
          <p:nvPr/>
        </p:nvSpPr>
        <p:spPr>
          <a:xfrm>
            <a:off x="4343400" y="3287157"/>
            <a:ext cx="2398862" cy="284501"/>
          </a:xfrm>
          <a:prstGeom prst="rect">
            <a:avLst/>
          </a:prstGeom>
          <a:noFill/>
          <a:ln/>
        </p:spPr>
        <p:txBody>
          <a:bodyPr wrap="none" lIns="0" tIns="0" rIns="0" bIns="0" rtlCol="0" anchor="t">
            <a:spAutoFit/>
          </a:bodyPr>
          <a:lstStyle/>
          <a:p>
            <a:pPr marL="0" indent="0" algn="l">
              <a:lnSpc>
                <a:spcPct val="128000"/>
              </a:lnSpc>
              <a:buNone/>
            </a:pPr>
            <a:r>
              <a:rPr lang="en-US" sz="1600" b="1" dirty="0">
                <a:solidFill>
                  <a:srgbClr val="1A237E"/>
                </a:solidFill>
                <a:latin typeface="Times New Roman" panose="02020603050405020304" pitchFamily="18" charset="0"/>
                <a:ea typeface="Montserrat ExtraBold" pitchFamily="34" charset="-122"/>
                <a:cs typeface="Times New Roman" panose="02020603050405020304" pitchFamily="18" charset="0"/>
              </a:rPr>
              <a:t>ANNÉE UNIVERSITAIRE</a:t>
            </a:r>
            <a:endParaRPr lang="en-US" sz="1600" dirty="0">
              <a:latin typeface="Times New Roman" panose="02020603050405020304" pitchFamily="18" charset="0"/>
              <a:cs typeface="Times New Roman" panose="02020603050405020304" pitchFamily="18" charset="0"/>
            </a:endParaRPr>
          </a:p>
        </p:txBody>
      </p:sp>
      <p:sp>
        <p:nvSpPr>
          <p:cNvPr id="10" name="Text 6"/>
          <p:cNvSpPr/>
          <p:nvPr/>
        </p:nvSpPr>
        <p:spPr>
          <a:xfrm>
            <a:off x="4343400" y="3551811"/>
            <a:ext cx="867225" cy="248979"/>
          </a:xfrm>
          <a:prstGeom prst="rect">
            <a:avLst/>
          </a:prstGeom>
          <a:noFill/>
          <a:ln/>
        </p:spPr>
        <p:txBody>
          <a:bodyPr wrap="none" lIns="0" tIns="0" rIns="0" bIns="0" rtlCol="0" anchor="t">
            <a:spAutoFit/>
          </a:bodyPr>
          <a:lstStyle/>
          <a:p>
            <a:pPr marL="0" indent="0" algn="l">
              <a:lnSpc>
                <a:spcPct val="128000"/>
              </a:lnSpc>
              <a:buNone/>
            </a:pPr>
            <a:r>
              <a:rPr lang="en-US" sz="1400" b="1" dirty="0">
                <a:latin typeface="Times New Roman" panose="02020603050405020304" pitchFamily="18" charset="0"/>
                <a:ea typeface="Montserrat Light" pitchFamily="34" charset="-122"/>
                <a:cs typeface="Times New Roman" panose="02020603050405020304" pitchFamily="18" charset="0"/>
              </a:rPr>
              <a:t>2025 - 2026</a:t>
            </a:r>
            <a:endParaRPr lang="en-US" sz="1400" b="1" dirty="0">
              <a:latin typeface="Times New Roman" panose="02020603050405020304" pitchFamily="18" charset="0"/>
              <a:cs typeface="Times New Roman" panose="02020603050405020304" pitchFamily="18" charset="0"/>
            </a:endParaRPr>
          </a:p>
        </p:txBody>
      </p:sp>
      <p:sp>
        <p:nvSpPr>
          <p:cNvPr id="11" name="Text 7"/>
          <p:cNvSpPr/>
          <p:nvPr/>
        </p:nvSpPr>
        <p:spPr>
          <a:xfrm>
            <a:off x="628650" y="4020062"/>
            <a:ext cx="806311" cy="284501"/>
          </a:xfrm>
          <a:prstGeom prst="rect">
            <a:avLst/>
          </a:prstGeom>
          <a:noFill/>
          <a:ln/>
        </p:spPr>
        <p:txBody>
          <a:bodyPr wrap="none" lIns="0" tIns="0" rIns="0" bIns="0" rtlCol="0" anchor="t">
            <a:spAutoFit/>
          </a:bodyPr>
          <a:lstStyle/>
          <a:p>
            <a:pPr marL="0" indent="0" algn="l">
              <a:lnSpc>
                <a:spcPct val="128000"/>
              </a:lnSpc>
              <a:buNone/>
            </a:pPr>
            <a:r>
              <a:rPr lang="en-US" sz="1600" b="1" dirty="0">
                <a:solidFill>
                  <a:srgbClr val="1A237E"/>
                </a:solidFill>
                <a:latin typeface="Times New Roman" panose="02020603050405020304" pitchFamily="18" charset="0"/>
                <a:ea typeface="Montserrat ExtraBold" pitchFamily="34" charset="-122"/>
                <a:cs typeface="Times New Roman" panose="02020603050405020304" pitchFamily="18" charset="0"/>
              </a:rPr>
              <a:t>NIVEAU</a:t>
            </a:r>
            <a:endParaRPr lang="en-US" sz="1600" dirty="0">
              <a:latin typeface="Times New Roman" panose="02020603050405020304" pitchFamily="18" charset="0"/>
              <a:cs typeface="Times New Roman" panose="02020603050405020304" pitchFamily="18" charset="0"/>
            </a:endParaRPr>
          </a:p>
        </p:txBody>
      </p:sp>
      <p:sp>
        <p:nvSpPr>
          <p:cNvPr id="12" name="Text 8"/>
          <p:cNvSpPr/>
          <p:nvPr/>
        </p:nvSpPr>
        <p:spPr>
          <a:xfrm>
            <a:off x="628650" y="4284715"/>
            <a:ext cx="1795363" cy="248979"/>
          </a:xfrm>
          <a:prstGeom prst="rect">
            <a:avLst/>
          </a:prstGeom>
          <a:noFill/>
          <a:ln/>
        </p:spPr>
        <p:txBody>
          <a:bodyPr wrap="none" lIns="0" tIns="0" rIns="0" bIns="0" rtlCol="0" anchor="t">
            <a:spAutoFit/>
          </a:bodyPr>
          <a:lstStyle/>
          <a:p>
            <a:pPr marL="0" indent="0" algn="l">
              <a:lnSpc>
                <a:spcPct val="128000"/>
              </a:lnSpc>
              <a:buNone/>
            </a:pPr>
            <a:r>
              <a:rPr lang="en-US" sz="1400" b="1" dirty="0">
                <a:latin typeface="Times New Roman" panose="02020603050405020304" pitchFamily="18" charset="0"/>
                <a:ea typeface="Montserrat Light" pitchFamily="34" charset="-122"/>
                <a:cs typeface="Times New Roman" panose="02020603050405020304" pitchFamily="18" charset="0"/>
              </a:rPr>
              <a:t>Licence 3 Informatique</a:t>
            </a:r>
            <a:endParaRPr lang="en-US" sz="1400" b="1" dirty="0">
              <a:latin typeface="Times New Roman" panose="02020603050405020304" pitchFamily="18" charset="0"/>
              <a:cs typeface="Times New Roman" panose="02020603050405020304" pitchFamily="18" charset="0"/>
            </a:endParaRPr>
          </a:p>
        </p:txBody>
      </p:sp>
      <p:sp>
        <p:nvSpPr>
          <p:cNvPr id="13" name="Text 9"/>
          <p:cNvSpPr/>
          <p:nvPr/>
        </p:nvSpPr>
        <p:spPr>
          <a:xfrm>
            <a:off x="4343400" y="4020062"/>
            <a:ext cx="1534844" cy="284501"/>
          </a:xfrm>
          <a:prstGeom prst="rect">
            <a:avLst/>
          </a:prstGeom>
          <a:noFill/>
          <a:ln/>
        </p:spPr>
        <p:txBody>
          <a:bodyPr wrap="none" lIns="0" tIns="0" rIns="0" bIns="0" rtlCol="0" anchor="t">
            <a:spAutoFit/>
          </a:bodyPr>
          <a:lstStyle/>
          <a:p>
            <a:pPr marL="0" indent="0" algn="l">
              <a:lnSpc>
                <a:spcPct val="128000"/>
              </a:lnSpc>
              <a:buNone/>
            </a:pPr>
            <a:r>
              <a:rPr lang="en-US" sz="1600" b="1" dirty="0">
                <a:solidFill>
                  <a:srgbClr val="1A237E"/>
                </a:solidFill>
                <a:latin typeface="Times New Roman" panose="02020603050405020304" pitchFamily="18" charset="0"/>
                <a:ea typeface="Montserrat ExtraBold" pitchFamily="34" charset="-122"/>
                <a:cs typeface="Times New Roman" panose="02020603050405020304" pitchFamily="18" charset="0"/>
              </a:rPr>
              <a:t>PRÉSENTÉ PAR</a:t>
            </a:r>
            <a:endParaRPr lang="en-US" sz="1600" dirty="0">
              <a:latin typeface="Times New Roman" panose="02020603050405020304" pitchFamily="18" charset="0"/>
              <a:cs typeface="Times New Roman" panose="02020603050405020304" pitchFamily="18" charset="0"/>
            </a:endParaRPr>
          </a:p>
        </p:txBody>
      </p:sp>
      <p:sp>
        <p:nvSpPr>
          <p:cNvPr id="14" name="Text 10"/>
          <p:cNvSpPr/>
          <p:nvPr/>
        </p:nvSpPr>
        <p:spPr>
          <a:xfrm>
            <a:off x="4343400" y="4284715"/>
            <a:ext cx="1923604" cy="827342"/>
          </a:xfrm>
          <a:prstGeom prst="rect">
            <a:avLst/>
          </a:prstGeom>
          <a:noFill/>
          <a:ln/>
        </p:spPr>
        <p:txBody>
          <a:bodyPr wrap="none" lIns="0" tIns="0" rIns="0" bIns="0" rtlCol="0" anchor="t">
            <a:spAutoFit/>
          </a:bodyPr>
          <a:lstStyle/>
          <a:p>
            <a:pPr marL="0" indent="0" algn="l">
              <a:lnSpc>
                <a:spcPct val="128000"/>
              </a:lnSpc>
              <a:buNone/>
            </a:pPr>
            <a:r>
              <a:rPr lang="en-US" sz="1400" b="1" dirty="0">
                <a:latin typeface="Times New Roman" panose="02020603050405020304" pitchFamily="18" charset="0"/>
                <a:ea typeface="Montserrat Light" pitchFamily="34" charset="-122"/>
                <a:cs typeface="Times New Roman" panose="02020603050405020304" pitchFamily="18" charset="0"/>
              </a:rPr>
              <a:t>Makhmoud </a:t>
            </a:r>
            <a:r>
              <a:rPr lang="en-US" sz="1400" b="1">
                <a:latin typeface="Times New Roman" panose="02020603050405020304" pitchFamily="18" charset="0"/>
                <a:ea typeface="Montserrat Light" pitchFamily="34" charset="-122"/>
                <a:cs typeface="Times New Roman" panose="02020603050405020304" pitchFamily="18" charset="0"/>
              </a:rPr>
              <a:t>Ismaila </a:t>
            </a:r>
            <a:r>
              <a:rPr lang="en-US" sz="1400" b="1" smtClean="0">
                <a:latin typeface="Times New Roman" panose="02020603050405020304" pitchFamily="18" charset="0"/>
                <a:ea typeface="Montserrat Light" pitchFamily="34" charset="-122"/>
                <a:cs typeface="Times New Roman" panose="02020603050405020304" pitchFamily="18" charset="0"/>
              </a:rPr>
              <a:t>Diop</a:t>
            </a:r>
          </a:p>
          <a:p>
            <a:pPr>
              <a:lnSpc>
                <a:spcPct val="128000"/>
              </a:lnSpc>
            </a:pPr>
            <a:r>
              <a:rPr lang="en-US" sz="1400" b="1">
                <a:latin typeface="Times New Roman" panose="02020603050405020304" pitchFamily="18" charset="0"/>
                <a:ea typeface="Montserrat Light" pitchFamily="34" charset="-122"/>
                <a:cs typeface="Times New Roman" panose="02020603050405020304" pitchFamily="18" charset="0"/>
              </a:rPr>
              <a:t>Mouhamed Sene</a:t>
            </a:r>
            <a:endParaRPr lang="en-US" sz="1400" b="1">
              <a:latin typeface="Times New Roman" panose="02020603050405020304" pitchFamily="18" charset="0"/>
              <a:cs typeface="Times New Roman" panose="02020603050405020304" pitchFamily="18" charset="0"/>
            </a:endParaRPr>
          </a:p>
          <a:p>
            <a:pPr marL="0" indent="0" algn="l">
              <a:lnSpc>
                <a:spcPct val="128000"/>
              </a:lnSpc>
              <a:buNone/>
            </a:pPr>
            <a:endParaRPr lang="en-US" sz="1400" b="1" dirty="0">
              <a:latin typeface="Times New Roman" panose="02020603050405020304" pitchFamily="18" charset="0"/>
              <a:cs typeface="Times New Roman" panose="02020603050405020304" pitchFamily="18" charset="0"/>
            </a:endParaRPr>
          </a:p>
        </p:txBody>
      </p:sp>
      <p:sp>
        <p:nvSpPr>
          <p:cNvPr id="15" name="Text 11"/>
          <p:cNvSpPr/>
          <p:nvPr/>
        </p:nvSpPr>
        <p:spPr>
          <a:xfrm>
            <a:off x="4343400" y="4490433"/>
            <a:ext cx="65" cy="248979"/>
          </a:xfrm>
          <a:prstGeom prst="rect">
            <a:avLst/>
          </a:prstGeom>
          <a:noFill/>
          <a:ln/>
        </p:spPr>
        <p:txBody>
          <a:bodyPr wrap="none" lIns="0" tIns="0" rIns="0" bIns="0" rtlCol="0" anchor="t">
            <a:spAutoFit/>
          </a:bodyPr>
          <a:lstStyle/>
          <a:p>
            <a:pPr marL="0" indent="0" algn="l">
              <a:lnSpc>
                <a:spcPct val="128000"/>
              </a:lnSpc>
              <a:buNone/>
            </a:pPr>
            <a:endParaRPr lang="en-US" sz="1400" b="1" dirty="0">
              <a:latin typeface="Times New Roman" panose="02020603050405020304" pitchFamily="18" charset="0"/>
              <a:cs typeface="Times New Roman" panose="02020603050405020304" pitchFamily="18" charset="0"/>
            </a:endParaRPr>
          </a:p>
        </p:txBody>
      </p:sp>
      <p:sp>
        <p:nvSpPr>
          <p:cNvPr id="16" name="Text 12"/>
          <p:cNvSpPr/>
          <p:nvPr/>
        </p:nvSpPr>
        <p:spPr>
          <a:xfrm>
            <a:off x="4343400" y="4696151"/>
            <a:ext cx="65" cy="248979"/>
          </a:xfrm>
          <a:prstGeom prst="rect">
            <a:avLst/>
          </a:prstGeom>
          <a:noFill/>
          <a:ln/>
        </p:spPr>
        <p:txBody>
          <a:bodyPr wrap="none" lIns="0" tIns="0" rIns="0" bIns="0" rtlCol="0" anchor="t">
            <a:spAutoFit/>
          </a:bodyPr>
          <a:lstStyle/>
          <a:p>
            <a:pPr marL="0" indent="0" algn="l">
              <a:lnSpc>
                <a:spcPct val="128000"/>
              </a:lnSpc>
              <a:buNone/>
            </a:pPr>
            <a:endParaRPr lang="en-US" sz="1400" b="1" dirty="0">
              <a:latin typeface="Times New Roman" panose="02020603050405020304" pitchFamily="18" charset="0"/>
              <a:cs typeface="Times New Roman" panose="02020603050405020304" pitchFamily="18" charset="0"/>
            </a:endParaRPr>
          </a:p>
        </p:txBody>
      </p:sp>
      <p:sp>
        <p:nvSpPr>
          <p:cNvPr id="17" name="Text 13"/>
          <p:cNvSpPr/>
          <p:nvPr/>
        </p:nvSpPr>
        <p:spPr>
          <a:xfrm>
            <a:off x="7528588" y="4348758"/>
            <a:ext cx="64" cy="184666"/>
          </a:xfrm>
          <a:prstGeom prst="rect">
            <a:avLst/>
          </a:prstGeom>
          <a:noFill/>
          <a:ln/>
        </p:spPr>
        <p:txBody>
          <a:bodyPr wrap="none" lIns="0" tIns="0" rIns="0" bIns="0" rtlCol="0" anchor="t">
            <a:spAutoFit/>
          </a:bodyPr>
          <a:lstStyle/>
          <a:p>
            <a:pPr marL="0" indent="0" algn="ctr">
              <a:buNone/>
            </a:pPr>
            <a:endParaRPr lang="en-US" sz="1200" dirty="0">
              <a:latin typeface="Times New Roman" panose="02020603050405020304" pitchFamily="18" charset="0"/>
              <a:cs typeface="Times New Roman" panose="02020603050405020304" pitchFamily="18" charset="0"/>
            </a:endParaRPr>
          </a:p>
        </p:txBody>
      </p:sp>
      <p:sp>
        <p:nvSpPr>
          <p:cNvPr id="18" name="Text 14"/>
          <p:cNvSpPr/>
          <p:nvPr/>
        </p:nvSpPr>
        <p:spPr>
          <a:xfrm>
            <a:off x="7932209" y="4348758"/>
            <a:ext cx="64" cy="184666"/>
          </a:xfrm>
          <a:prstGeom prst="rect">
            <a:avLst/>
          </a:prstGeom>
          <a:noFill/>
          <a:ln/>
        </p:spPr>
        <p:txBody>
          <a:bodyPr wrap="none" lIns="0" tIns="0" rIns="0" bIns="0" rtlCol="0" anchor="t">
            <a:spAutoFit/>
          </a:bodyPr>
          <a:lstStyle/>
          <a:p>
            <a:pPr marL="0" indent="0" algn="ctr">
              <a:buNone/>
            </a:pPr>
            <a:endParaRPr lang="en-US" sz="1200" dirty="0">
              <a:latin typeface="Times New Roman" panose="02020603050405020304" pitchFamily="18" charset="0"/>
              <a:cs typeface="Times New Roman" panose="02020603050405020304" pitchFamily="18" charset="0"/>
            </a:endParaRPr>
          </a:p>
        </p:txBody>
      </p:sp>
      <p:sp>
        <p:nvSpPr>
          <p:cNvPr id="19" name="Text 15"/>
          <p:cNvSpPr/>
          <p:nvPr/>
        </p:nvSpPr>
        <p:spPr>
          <a:xfrm>
            <a:off x="8483172" y="4348758"/>
            <a:ext cx="64" cy="184666"/>
          </a:xfrm>
          <a:prstGeom prst="rect">
            <a:avLst/>
          </a:prstGeom>
          <a:noFill/>
          <a:ln/>
        </p:spPr>
        <p:txBody>
          <a:bodyPr wrap="none" lIns="0" tIns="0" rIns="0" bIns="0" rtlCol="0" anchor="t">
            <a:spAutoFit/>
          </a:bodyPr>
          <a:lstStyle/>
          <a:p>
            <a:pPr marL="0" indent="0" algn="ctr">
              <a:buNone/>
            </a:pPr>
            <a:endParaRPr lang="en-US" sz="1200" dirty="0">
              <a:latin typeface="Times New Roman" panose="02020603050405020304" pitchFamily="18" charset="0"/>
              <a:cs typeface="Times New Roman" panose="02020603050405020304" pitchFamily="18" charset="0"/>
            </a:endParaRPr>
          </a:p>
        </p:txBody>
      </p:sp>
      <p:sp>
        <p:nvSpPr>
          <p:cNvPr id="20" name="Text 16"/>
          <p:cNvSpPr/>
          <p:nvPr/>
        </p:nvSpPr>
        <p:spPr>
          <a:xfrm>
            <a:off x="8960910" y="4348758"/>
            <a:ext cx="64" cy="184666"/>
          </a:xfrm>
          <a:prstGeom prst="rect">
            <a:avLst/>
          </a:prstGeom>
          <a:noFill/>
          <a:ln/>
        </p:spPr>
        <p:txBody>
          <a:bodyPr wrap="none" lIns="0" tIns="0" rIns="0" bIns="0" rtlCol="0" anchor="t">
            <a:spAutoFit/>
          </a:bodyPr>
          <a:lstStyle/>
          <a:p>
            <a:pPr marL="0" indent="0" algn="ctr">
              <a:buNone/>
            </a:pPr>
            <a:endParaRPr lang="en-US" sz="1200" dirty="0">
              <a:latin typeface="Times New Roman" panose="02020603050405020304" pitchFamily="18" charset="0"/>
              <a:cs typeface="Times New Roman" panose="02020603050405020304" pitchFamily="18" charset="0"/>
            </a:endParaRPr>
          </a:p>
        </p:txBody>
      </p:sp>
      <p:sp>
        <p:nvSpPr>
          <p:cNvPr id="21" name="Ellipse 20"/>
          <p:cNvSpPr/>
          <p:nvPr/>
        </p:nvSpPr>
        <p:spPr>
          <a:xfrm>
            <a:off x="8094100" y="4296029"/>
            <a:ext cx="1056112" cy="886766"/>
          </a:xfrm>
          <a:prstGeom prst="ellipse">
            <a:avLst/>
          </a:prstGeom>
          <a:blipFill dpi="0" rotWithShape="1">
            <a:blip r:embed="rId4"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p:cNvSpPr/>
          <p:nvPr/>
        </p:nvSpPr>
        <p:spPr>
          <a:xfrm>
            <a:off x="6812735" y="4252768"/>
            <a:ext cx="1056112" cy="886766"/>
          </a:xfrm>
          <a:prstGeom prst="ellipse">
            <a:avLst/>
          </a:prstGeom>
          <a:blipFill dpi="0" rotWithShape="1">
            <a:blip r:embed="rId5"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p:nvSpPr>
        <p:spPr>
          <a:xfrm>
            <a:off x="406903" y="470693"/>
            <a:ext cx="8330194" cy="16399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rgbClr val="FFFFFF"/>
                </a:solidFill>
                <a:latin typeface="Times New Roman" pitchFamily="34" charset="0"/>
                <a:ea typeface="Times New Roman" pitchFamily="34" charset="-122"/>
                <a:cs typeface="Times New Roman" pitchFamily="34" charset="-120"/>
              </a:rPr>
              <a:t>PLATEFORME DE GESTION DES AGENTS DE SÉCURITÉ DE L’UASZ</a:t>
            </a:r>
            <a:endParaRPr lang="en-US" sz="2800"/>
          </a:p>
          <a:p>
            <a:pPr algn="ctr"/>
            <a:endParaRPr lang="fr-FR" sz="2800"/>
          </a:p>
        </p:txBody>
      </p:sp>
    </p:spTree>
    <p:extLst>
      <p:ext uri="{BB962C8B-B14F-4D97-AF65-F5344CB8AC3E}">
        <p14:creationId xmlns:p14="http://schemas.microsoft.com/office/powerpoint/2010/main" val="30414435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9148" y="0"/>
            <a:ext cx="9144000" cy="5143500"/>
          </a:xfrm>
          <a:prstGeom prst="rect">
            <a:avLst/>
          </a:prstGeom>
        </p:spPr>
      </p:pic>
      <p:sp>
        <p:nvSpPr>
          <p:cNvPr id="3" name="Text 0"/>
          <p:cNvSpPr/>
          <p:nvPr/>
        </p:nvSpPr>
        <p:spPr>
          <a:xfrm>
            <a:off x="628650" y="414338"/>
            <a:ext cx="8515350" cy="269304"/>
          </a:xfrm>
          <a:prstGeom prst="rect">
            <a:avLst/>
          </a:prstGeom>
          <a:noFill/>
          <a:ln/>
        </p:spPr>
        <p:txBody>
          <a:bodyPr wrap="square" lIns="0" tIns="0" rIns="0" bIns="0" rtlCol="0" anchor="t">
            <a:spAutoFit/>
          </a:bodyPr>
          <a:lstStyle/>
          <a:p>
            <a:pPr marL="400050" indent="-400050" algn="l">
              <a:buFont typeface="+mj-lt"/>
              <a:buAutoNum type="romanUcPeriod"/>
            </a:pPr>
            <a:r>
              <a:rPr lang="en-US" sz="1750" b="1" smtClean="0">
                <a:solidFill>
                  <a:schemeClr val="accent5"/>
                </a:solidFill>
                <a:latin typeface="Times New Roman" pitchFamily="34" charset="0"/>
                <a:ea typeface="Times New Roman" pitchFamily="34" charset="-122"/>
                <a:cs typeface="Times New Roman" pitchFamily="34" charset="-120"/>
              </a:rPr>
              <a:t>CONTEXTE </a:t>
            </a:r>
            <a:r>
              <a:rPr lang="en-US" sz="1750" b="1" dirty="0">
                <a:solidFill>
                  <a:schemeClr val="accent5"/>
                </a:solidFill>
                <a:latin typeface="Times New Roman" pitchFamily="34" charset="0"/>
                <a:ea typeface="Times New Roman" pitchFamily="34" charset="-122"/>
                <a:cs typeface="Times New Roman" pitchFamily="34" charset="-120"/>
              </a:rPr>
              <a:t>&amp; PROBLÉMATIQUE</a:t>
            </a:r>
            <a:endParaRPr lang="en-US" sz="1750" dirty="0">
              <a:solidFill>
                <a:schemeClr val="accent5"/>
              </a:solidFill>
            </a:endParaRPr>
          </a:p>
        </p:txBody>
      </p:sp>
      <p:sp>
        <p:nvSpPr>
          <p:cNvPr id="4" name="Text 1"/>
          <p:cNvSpPr/>
          <p:nvPr/>
        </p:nvSpPr>
        <p:spPr>
          <a:xfrm>
            <a:off x="628650" y="1035585"/>
            <a:ext cx="4495372" cy="246221"/>
          </a:xfrm>
          <a:prstGeom prst="rect">
            <a:avLst/>
          </a:prstGeom>
          <a:noFill/>
          <a:ln/>
        </p:spPr>
        <p:txBody>
          <a:bodyPr wrap="square" lIns="0" tIns="0" rIns="0" bIns="0" rtlCol="0" anchor="t">
            <a:spAutoFit/>
          </a:bodyPr>
          <a:lstStyle/>
          <a:p>
            <a:pPr marL="0" indent="0" algn="l">
              <a:buNone/>
            </a:pPr>
            <a:endParaRPr lang="en-US" sz="1600" dirty="0"/>
          </a:p>
        </p:txBody>
      </p:sp>
      <p:sp>
        <p:nvSpPr>
          <p:cNvPr id="5" name="Text 2"/>
          <p:cNvSpPr/>
          <p:nvPr/>
        </p:nvSpPr>
        <p:spPr>
          <a:xfrm>
            <a:off x="637956" y="1109409"/>
            <a:ext cx="4495372" cy="2197396"/>
          </a:xfrm>
          <a:prstGeom prst="rect">
            <a:avLst/>
          </a:prstGeom>
          <a:noFill/>
          <a:ln/>
        </p:spPr>
        <p:txBody>
          <a:bodyPr wrap="square" lIns="0" tIns="0" rIns="0" bIns="0" rtlCol="0" anchor="t">
            <a:spAutoFit/>
          </a:bodyPr>
          <a:lstStyle/>
          <a:p>
            <a:pPr>
              <a:lnSpc>
                <a:spcPct val="102400"/>
              </a:lnSpc>
            </a:pPr>
            <a:r>
              <a:rPr lang="en-US" sz="1400" b="1">
                <a:solidFill>
                  <a:srgbClr val="F47C17"/>
                </a:solidFill>
                <a:latin typeface="Times New Roman" pitchFamily="34" charset="0"/>
                <a:ea typeface="Times New Roman" pitchFamily="34" charset="-122"/>
                <a:cs typeface="Times New Roman" pitchFamily="34" charset="-120"/>
              </a:rPr>
              <a:t>CONTEXTE</a:t>
            </a:r>
            <a:endParaRPr lang="en-US" sz="1400"/>
          </a:p>
          <a:p>
            <a:pPr marL="0" indent="0" algn="l">
              <a:lnSpc>
                <a:spcPct val="102400"/>
              </a:lnSpc>
              <a:buNone/>
            </a:pPr>
            <a:r>
              <a:rPr lang="en-US" sz="1400" smtClean="0">
                <a:latin typeface="Times New Roman" panose="02020603050405020304" pitchFamily="18" charset="0"/>
                <a:ea typeface="Montserrat ExtraBold"/>
                <a:cs typeface="Times New Roman" panose="02020603050405020304" pitchFamily="18" charset="0"/>
              </a:rPr>
              <a:t>L’UASZ accueille chaque jour beaucoup d’étudiants, d’enseignants, de personnel administratif et de visiteurs. Les agents de sécurité sont présents sur plusieurs secteurs pour protéger les personnes, les bâtiments et les équipements.</a:t>
            </a:r>
          </a:p>
          <a:p>
            <a:pPr marL="0" indent="0" algn="l">
              <a:lnSpc>
                <a:spcPct val="102400"/>
              </a:lnSpc>
              <a:buNone/>
            </a:pPr>
            <a:endParaRPr lang="en-US" sz="1400">
              <a:latin typeface="Times New Roman" panose="02020603050405020304" pitchFamily="18" charset="0"/>
              <a:ea typeface="Montserrat ExtraBold"/>
              <a:cs typeface="Times New Roman" panose="02020603050405020304" pitchFamily="18" charset="0"/>
            </a:endParaRPr>
          </a:p>
          <a:p>
            <a:pPr>
              <a:lnSpc>
                <a:spcPct val="102400"/>
              </a:lnSpc>
            </a:pPr>
            <a:r>
              <a:rPr lang="en-US" sz="1400">
                <a:latin typeface="Times New Roman" panose="02020603050405020304" pitchFamily="18" charset="0"/>
                <a:ea typeface="Montserrat ExtraBold"/>
                <a:cs typeface="Times New Roman" panose="02020603050405020304" pitchFamily="18" charset="0"/>
              </a:rPr>
              <a:t>La gestion est encore faite avec des cahiers, des fiches </a:t>
            </a:r>
            <a:r>
              <a:rPr lang="en-US" sz="1400" smtClean="0">
                <a:latin typeface="Times New Roman" panose="02020603050405020304" pitchFamily="18" charset="0"/>
                <a:ea typeface="Montserrat ExtraBold"/>
                <a:cs typeface="Times New Roman" panose="02020603050405020304" pitchFamily="18" charset="0"/>
              </a:rPr>
              <a:t>imprimées. </a:t>
            </a:r>
            <a:r>
              <a:rPr lang="en-US" sz="1400">
                <a:latin typeface="Times New Roman" panose="02020603050405020304" pitchFamily="18" charset="0"/>
                <a:ea typeface="Montserrat ExtraBold"/>
                <a:cs typeface="Times New Roman" panose="02020603050405020304" pitchFamily="18" charset="0"/>
              </a:rPr>
              <a:t>Cette méthode rend difficile le suivi des présences, des affectations, des heures de travail et des incidents.</a:t>
            </a:r>
          </a:p>
          <a:p>
            <a:pPr marL="0" indent="0" algn="l">
              <a:lnSpc>
                <a:spcPct val="102400"/>
              </a:lnSpc>
              <a:buNone/>
            </a:pPr>
            <a:endParaRPr lang="en-US" sz="1400" smtClean="0">
              <a:latin typeface="Times New Roman" panose="02020603050405020304" pitchFamily="18" charset="0"/>
              <a:ea typeface="Montserrat ExtraBold"/>
              <a:cs typeface="Times New Roman" panose="02020603050405020304" pitchFamily="18" charset="0"/>
            </a:endParaRPr>
          </a:p>
        </p:txBody>
      </p:sp>
      <p:sp>
        <p:nvSpPr>
          <p:cNvPr id="6" name="Text 3"/>
          <p:cNvSpPr/>
          <p:nvPr/>
        </p:nvSpPr>
        <p:spPr>
          <a:xfrm>
            <a:off x="643271" y="2571750"/>
            <a:ext cx="4495372" cy="206980"/>
          </a:xfrm>
          <a:prstGeom prst="rect">
            <a:avLst/>
          </a:prstGeom>
          <a:noFill/>
          <a:ln/>
        </p:spPr>
        <p:txBody>
          <a:bodyPr wrap="square" lIns="0" tIns="0" rIns="0" bIns="0" rtlCol="0" anchor="t">
            <a:spAutoFit/>
          </a:bodyPr>
          <a:lstStyle/>
          <a:p>
            <a:pPr marL="0" indent="0" algn="l">
              <a:lnSpc>
                <a:spcPct val="102400"/>
              </a:lnSpc>
              <a:buNone/>
            </a:pPr>
            <a:endParaRPr lang="en-US" sz="1400" dirty="0">
              <a:latin typeface="Times New Roman" panose="02020603050405020304" pitchFamily="18" charset="0"/>
              <a:ea typeface="Montserrat ExtraBold"/>
              <a:cs typeface="Times New Roman" panose="02020603050405020304" pitchFamily="18" charset="0"/>
            </a:endParaRPr>
          </a:p>
        </p:txBody>
      </p:sp>
      <p:sp>
        <p:nvSpPr>
          <p:cNvPr id="7" name="Text 4"/>
          <p:cNvSpPr/>
          <p:nvPr/>
        </p:nvSpPr>
        <p:spPr>
          <a:xfrm>
            <a:off x="628650" y="3714211"/>
            <a:ext cx="4495372" cy="215444"/>
          </a:xfrm>
          <a:prstGeom prst="rect">
            <a:avLst/>
          </a:prstGeom>
          <a:noFill/>
          <a:ln/>
        </p:spPr>
        <p:txBody>
          <a:bodyPr wrap="square" lIns="0" tIns="0" rIns="0" bIns="0" rtlCol="0" anchor="t">
            <a:spAutoFit/>
          </a:bodyPr>
          <a:lstStyle/>
          <a:p>
            <a:pPr marL="0" indent="0" algn="l">
              <a:buNone/>
            </a:pPr>
            <a:endParaRPr lang="en-US" sz="1400" dirty="0"/>
          </a:p>
        </p:txBody>
      </p:sp>
      <p:sp>
        <p:nvSpPr>
          <p:cNvPr id="9" name="Text 6"/>
          <p:cNvSpPr/>
          <p:nvPr/>
        </p:nvSpPr>
        <p:spPr>
          <a:xfrm>
            <a:off x="489502" y="3672838"/>
            <a:ext cx="4495372" cy="490134"/>
          </a:xfrm>
          <a:prstGeom prst="rect">
            <a:avLst/>
          </a:prstGeom>
          <a:noFill/>
          <a:ln/>
        </p:spPr>
        <p:txBody>
          <a:bodyPr wrap="square" lIns="161544" tIns="136017" rIns="161544" bIns="136017" rtlCol="0" anchor="t">
            <a:spAutoFit/>
          </a:bodyPr>
          <a:lstStyle/>
          <a:p>
            <a:endParaRPr lang="en-US" sz="1400" dirty="0">
              <a:solidFill>
                <a:schemeClr val="accent5"/>
              </a:solidFill>
              <a:latin typeface="Times New Roman" panose="02020603050405020304" pitchFamily="18" charset="0"/>
              <a:cs typeface="Times New Roman" panose="02020603050405020304" pitchFamily="18" charset="0"/>
            </a:endParaRPr>
          </a:p>
        </p:txBody>
      </p:sp>
      <p:sp>
        <p:nvSpPr>
          <p:cNvPr id="12" name="Text 8"/>
          <p:cNvSpPr/>
          <p:nvPr/>
        </p:nvSpPr>
        <p:spPr>
          <a:xfrm>
            <a:off x="7008153" y="3157538"/>
            <a:ext cx="65" cy="184666"/>
          </a:xfrm>
          <a:prstGeom prst="rect">
            <a:avLst/>
          </a:prstGeom>
          <a:noFill/>
          <a:ln/>
        </p:spPr>
        <p:txBody>
          <a:bodyPr wrap="none" lIns="0" tIns="0" rIns="0" bIns="0" rtlCol="0" anchor="t">
            <a:spAutoFit/>
          </a:bodyPr>
          <a:lstStyle/>
          <a:p>
            <a:pPr marL="0" indent="0" algn="ctr">
              <a:buNone/>
            </a:pPr>
            <a:endParaRPr lang="en-US" sz="1200" dirty="0"/>
          </a:p>
        </p:txBody>
      </p:sp>
      <p:sp>
        <p:nvSpPr>
          <p:cNvPr id="13" name="Text 9"/>
          <p:cNvSpPr/>
          <p:nvPr/>
        </p:nvSpPr>
        <p:spPr>
          <a:xfrm>
            <a:off x="7332166" y="3157538"/>
            <a:ext cx="1549747" cy="184666"/>
          </a:xfrm>
          <a:prstGeom prst="rect">
            <a:avLst/>
          </a:prstGeom>
          <a:noFill/>
          <a:ln/>
        </p:spPr>
        <p:txBody>
          <a:bodyPr wrap="square" lIns="0" tIns="0" rIns="0" bIns="0" rtlCol="0" anchor="t">
            <a:spAutoFit/>
          </a:bodyPr>
          <a:lstStyle/>
          <a:p>
            <a:pPr marL="0" indent="0" algn="ctr">
              <a:buNone/>
            </a:pPr>
            <a:endParaRPr lang="en-US" sz="1200" dirty="0"/>
          </a:p>
        </p:txBody>
      </p:sp>
      <p:sp>
        <p:nvSpPr>
          <p:cNvPr id="14" name="Shape 5"/>
          <p:cNvSpPr/>
          <p:nvPr/>
        </p:nvSpPr>
        <p:spPr>
          <a:xfrm>
            <a:off x="6347377" y="1606808"/>
            <a:ext cx="3286125" cy="3286125"/>
          </a:xfrm>
          <a:prstGeom prst="ellipse">
            <a:avLst/>
          </a:prstGeom>
          <a:blipFill dpi="0" rotWithShape="1">
            <a:blip r:embed="rId4" cstate="email">
              <a:extLst>
                <a:ext uri="{28A0092B-C50C-407E-A947-70E740481C1C}">
                  <a14:useLocalDpi xmlns:a14="http://schemas.microsoft.com/office/drawing/2010/main"/>
                </a:ext>
              </a:extLst>
            </a:blip>
            <a:srcRect/>
            <a:stretch>
              <a:fillRect/>
            </a:stretch>
          </a:blipFill>
          <a:ln/>
        </p:spPr>
      </p:sp>
      <p:sp>
        <p:nvSpPr>
          <p:cNvPr id="15" name="Rectangle 14"/>
          <p:cNvSpPr/>
          <p:nvPr/>
        </p:nvSpPr>
        <p:spPr>
          <a:xfrm>
            <a:off x="7134070" y="942011"/>
            <a:ext cx="1870782" cy="757130"/>
          </a:xfrm>
          <a:prstGeom prst="rect">
            <a:avLst/>
          </a:prstGeom>
        </p:spPr>
        <p:txBody>
          <a:bodyPr wrap="square">
            <a:spAutoFit/>
          </a:bodyPr>
          <a:lstStyle/>
          <a:p>
            <a:pPr>
              <a:lnSpc>
                <a:spcPct val="120000"/>
              </a:lnSpc>
            </a:pPr>
            <a:r>
              <a:rPr lang="en-US" b="1" smtClean="0">
                <a:solidFill>
                  <a:schemeClr val="accent1"/>
                </a:solidFill>
                <a:latin typeface="Montserrat ExtraBold" pitchFamily="34" charset="0"/>
                <a:ea typeface="Montserrat ExtraBold" pitchFamily="34" charset="-122"/>
                <a:cs typeface="Montserrat ExtraBold" pitchFamily="34" charset="-120"/>
              </a:rPr>
              <a:t>POURQUOI
CE PROJET </a:t>
            </a:r>
            <a:endParaRPr lang="en-US" b="1">
              <a:solidFill>
                <a:schemeClr val="accent1"/>
              </a:solidFill>
            </a:endParaRPr>
          </a:p>
        </p:txBody>
      </p:sp>
      <p:sp>
        <p:nvSpPr>
          <p:cNvPr id="10" name="Rectangle 9"/>
          <p:cNvSpPr/>
          <p:nvPr/>
        </p:nvSpPr>
        <p:spPr>
          <a:xfrm>
            <a:off x="2286000" y="1833086"/>
            <a:ext cx="4572000" cy="369332"/>
          </a:xfrm>
          <a:prstGeom prst="rect">
            <a:avLst/>
          </a:prstGeom>
        </p:spPr>
        <p:txBody>
          <a:bodyPr>
            <a:spAutoFit/>
          </a:bodyPr>
          <a:lstStyle/>
          <a:p>
            <a:endParaRPr lang="en-US" dirty="0">
              <a:solidFill>
                <a:schemeClr val="accent5"/>
              </a:solidFill>
              <a:latin typeface="Times New Roman" panose="02020603050405020304" pitchFamily="18" charset="0"/>
              <a:cs typeface="Times New Roman" panose="02020603050405020304" pitchFamily="18" charset="0"/>
            </a:endParaRPr>
          </a:p>
        </p:txBody>
      </p:sp>
      <p:sp>
        <p:nvSpPr>
          <p:cNvPr id="8" name="Rectangle 7"/>
          <p:cNvSpPr/>
          <p:nvPr/>
        </p:nvSpPr>
        <p:spPr>
          <a:xfrm>
            <a:off x="7089877" y="4822282"/>
            <a:ext cx="2039340" cy="338554"/>
          </a:xfrm>
          <a:prstGeom prst="rect">
            <a:avLst/>
          </a:prstGeom>
        </p:spPr>
        <p:txBody>
          <a:bodyPr wrap="none">
            <a:spAutoFit/>
          </a:bodyPr>
          <a:lstStyle/>
          <a:p>
            <a:pPr algn="r"/>
            <a:r>
              <a:rPr lang="fr-FR" sz="1600" smtClean="0">
                <a:solidFill>
                  <a:srgbClr val="002060"/>
                </a:solidFill>
                <a:latin typeface="Times New Roman"/>
              </a:rPr>
              <a:t>Projet tutoriel   </a:t>
            </a:r>
            <a:r>
              <a:rPr lang="fr-FR" sz="1600">
                <a:solidFill>
                  <a:srgbClr val="002060"/>
                </a:solidFill>
                <a:latin typeface="Times New Roman"/>
              </a:rPr>
              <a:t>|   </a:t>
            </a:r>
            <a:r>
              <a:rPr lang="fr-FR" sz="1600" smtClean="0">
                <a:solidFill>
                  <a:srgbClr val="002060"/>
                </a:solidFill>
                <a:latin typeface="Times New Roman"/>
              </a:rPr>
              <a:t>1/21</a:t>
            </a:r>
            <a:endParaRPr lang="fr-FR" sz="1600">
              <a:solidFill>
                <a:srgbClr val="002060"/>
              </a:solidFill>
              <a:latin typeface="Times New Roman"/>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80">
                                          <p:stCondLst>
                                            <p:cond delay="0"/>
                                          </p:stCondLst>
                                        </p:cTn>
                                        <p:tgtEl>
                                          <p:spTgt spid="14"/>
                                        </p:tgtEl>
                                      </p:cBhvr>
                                    </p:animEffect>
                                    <p:anim calcmode="lin" valueType="num">
                                      <p:cBhvr>
                                        <p:cTn id="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3" dur="26">
                                          <p:stCondLst>
                                            <p:cond delay="650"/>
                                          </p:stCondLst>
                                        </p:cTn>
                                        <p:tgtEl>
                                          <p:spTgt spid="14"/>
                                        </p:tgtEl>
                                      </p:cBhvr>
                                      <p:to x="100000" y="60000"/>
                                    </p:animScale>
                                    <p:animScale>
                                      <p:cBhvr>
                                        <p:cTn id="14" dur="166" decel="50000">
                                          <p:stCondLst>
                                            <p:cond delay="676"/>
                                          </p:stCondLst>
                                        </p:cTn>
                                        <p:tgtEl>
                                          <p:spTgt spid="14"/>
                                        </p:tgtEl>
                                      </p:cBhvr>
                                      <p:to x="100000" y="100000"/>
                                    </p:animScale>
                                    <p:animScale>
                                      <p:cBhvr>
                                        <p:cTn id="15" dur="26">
                                          <p:stCondLst>
                                            <p:cond delay="1312"/>
                                          </p:stCondLst>
                                        </p:cTn>
                                        <p:tgtEl>
                                          <p:spTgt spid="14"/>
                                        </p:tgtEl>
                                      </p:cBhvr>
                                      <p:to x="100000" y="80000"/>
                                    </p:animScale>
                                    <p:animScale>
                                      <p:cBhvr>
                                        <p:cTn id="16" dur="166" decel="50000">
                                          <p:stCondLst>
                                            <p:cond delay="1338"/>
                                          </p:stCondLst>
                                        </p:cTn>
                                        <p:tgtEl>
                                          <p:spTgt spid="14"/>
                                        </p:tgtEl>
                                      </p:cBhvr>
                                      <p:to x="100000" y="100000"/>
                                    </p:animScale>
                                    <p:animScale>
                                      <p:cBhvr>
                                        <p:cTn id="17" dur="26">
                                          <p:stCondLst>
                                            <p:cond delay="1642"/>
                                          </p:stCondLst>
                                        </p:cTn>
                                        <p:tgtEl>
                                          <p:spTgt spid="14"/>
                                        </p:tgtEl>
                                      </p:cBhvr>
                                      <p:to x="100000" y="90000"/>
                                    </p:animScale>
                                    <p:animScale>
                                      <p:cBhvr>
                                        <p:cTn id="18" dur="166" decel="50000">
                                          <p:stCondLst>
                                            <p:cond delay="1668"/>
                                          </p:stCondLst>
                                        </p:cTn>
                                        <p:tgtEl>
                                          <p:spTgt spid="14"/>
                                        </p:tgtEl>
                                      </p:cBhvr>
                                      <p:to x="100000" y="100000"/>
                                    </p:animScale>
                                    <p:animScale>
                                      <p:cBhvr>
                                        <p:cTn id="19" dur="26">
                                          <p:stCondLst>
                                            <p:cond delay="1808"/>
                                          </p:stCondLst>
                                        </p:cTn>
                                        <p:tgtEl>
                                          <p:spTgt spid="14"/>
                                        </p:tgtEl>
                                      </p:cBhvr>
                                      <p:to x="100000" y="95000"/>
                                    </p:animScale>
                                    <p:animScale>
                                      <p:cBhvr>
                                        <p:cTn id="20" dur="166" decel="50000">
                                          <p:stCondLst>
                                            <p:cond delay="1834"/>
                                          </p:stCondLst>
                                        </p:cTn>
                                        <p:tgtEl>
                                          <p:spTgt spid="1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723014" y="414338"/>
            <a:ext cx="8420985" cy="269304"/>
          </a:xfrm>
          <a:prstGeom prst="rect">
            <a:avLst/>
          </a:prstGeom>
          <a:noFill/>
          <a:ln/>
        </p:spPr>
        <p:txBody>
          <a:bodyPr wrap="square" lIns="0" tIns="0" rIns="0" bIns="0" rtlCol="0" anchor="t">
            <a:spAutoFit/>
          </a:bodyPr>
          <a:lstStyle/>
          <a:p>
            <a:pPr algn="l"/>
            <a:r>
              <a:rPr lang="en-US" sz="1750" b="1" smtClean="0">
                <a:solidFill>
                  <a:schemeClr val="accent5"/>
                </a:solidFill>
                <a:latin typeface="Times New Roman" pitchFamily="34" charset="0"/>
                <a:ea typeface="Times New Roman" pitchFamily="34" charset="-122"/>
                <a:cs typeface="Times New Roman" pitchFamily="34" charset="-120"/>
              </a:rPr>
              <a:t>II.   PROBLÉMATIQUE</a:t>
            </a:r>
            <a:endParaRPr lang="en-US" sz="1750" dirty="0">
              <a:solidFill>
                <a:schemeClr val="accent5"/>
              </a:solidFill>
            </a:endParaRPr>
          </a:p>
        </p:txBody>
      </p:sp>
      <p:sp>
        <p:nvSpPr>
          <p:cNvPr id="4" name="Text 1"/>
          <p:cNvSpPr/>
          <p:nvPr/>
        </p:nvSpPr>
        <p:spPr>
          <a:xfrm>
            <a:off x="850106" y="1385888"/>
            <a:ext cx="3393281"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CONSTAT</a:t>
            </a:r>
            <a:endParaRPr lang="en-US" sz="1400" dirty="0"/>
          </a:p>
        </p:txBody>
      </p:sp>
      <p:sp>
        <p:nvSpPr>
          <p:cNvPr id="5" name="Text 2"/>
          <p:cNvSpPr/>
          <p:nvPr/>
        </p:nvSpPr>
        <p:spPr>
          <a:xfrm>
            <a:off x="850106" y="1689497"/>
            <a:ext cx="3393281" cy="1171924"/>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L’UASZ a beaucoup d’agents de sécurité. La gestion des dossiers sur des cahiers ou des fiches imprimées prend beaucoup de temps et provoque des erreurs lors de l’affectation des tâches.</a:t>
            </a:r>
            <a:endParaRPr lang="en-US" sz="1400" dirty="0"/>
          </a:p>
        </p:txBody>
      </p:sp>
      <p:sp>
        <p:nvSpPr>
          <p:cNvPr id="6" name="Text 3"/>
          <p:cNvSpPr/>
          <p:nvPr/>
        </p:nvSpPr>
        <p:spPr>
          <a:xfrm>
            <a:off x="4900613" y="1385888"/>
            <a:ext cx="3393281"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DIFFICULTÉS</a:t>
            </a:r>
            <a:endParaRPr lang="en-US" sz="1400" dirty="0"/>
          </a:p>
        </p:txBody>
      </p:sp>
      <p:sp>
        <p:nvSpPr>
          <p:cNvPr id="7" name="Text 4"/>
          <p:cNvSpPr/>
          <p:nvPr/>
        </p:nvSpPr>
        <p:spPr>
          <a:xfrm>
            <a:off x="4900613" y="1689497"/>
            <a:ext cx="3393281" cy="947952"/>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suivi des présences et des incidents est difficile. Les informations sont dispersées et les actions en matière de sécurité sont plus difficiles </a:t>
            </a:r>
            <a:r>
              <a:rPr lang="en-US" sz="1400">
                <a:solidFill>
                  <a:srgbClr val="000000"/>
                </a:solidFill>
                <a:latin typeface="Times New Roman" pitchFamily="34" charset="0"/>
                <a:ea typeface="Times New Roman" pitchFamily="34" charset="-122"/>
                <a:cs typeface="Times New Roman" pitchFamily="34" charset="-120"/>
              </a:rPr>
              <a:t>à </a:t>
            </a:r>
            <a:r>
              <a:rPr lang="en-US" sz="1400" smtClean="0">
                <a:solidFill>
                  <a:srgbClr val="000000"/>
                </a:solidFill>
                <a:latin typeface="Times New Roman" pitchFamily="34" charset="0"/>
                <a:ea typeface="Times New Roman" pitchFamily="34" charset="-122"/>
                <a:cs typeface="Times New Roman" pitchFamily="34" charset="-120"/>
              </a:rPr>
              <a:t>gere.</a:t>
            </a:r>
            <a:endParaRPr lang="en-US" sz="1400" dirty="0"/>
          </a:p>
        </p:txBody>
      </p:sp>
      <p:sp>
        <p:nvSpPr>
          <p:cNvPr id="8" name="Shape 5"/>
          <p:cNvSpPr/>
          <p:nvPr/>
        </p:nvSpPr>
        <p:spPr>
          <a:xfrm>
            <a:off x="628650" y="3307556"/>
            <a:ext cx="7886700" cy="1085069"/>
          </a:xfrm>
          <a:prstGeom prst="rect">
            <a:avLst/>
          </a:prstGeom>
          <a:solidFill>
            <a:srgbClr val="DDEAF4"/>
          </a:solidFill>
          <a:ln w="18288">
            <a:solidFill>
              <a:srgbClr val="F47C17"/>
            </a:solidFill>
            <a:prstDash val="solid"/>
          </a:ln>
        </p:spPr>
        <p:txBody>
          <a:bodyPr/>
          <a:lstStyle/>
          <a:p>
            <a:r>
              <a:rPr lang="fr-FR"/>
              <a:t> </a:t>
            </a:r>
            <a:r>
              <a:rPr lang="fr-FR" smtClean="0"/>
              <a:t>                                  </a:t>
            </a:r>
            <a:r>
              <a:rPr lang="en-US" b="1" smtClean="0">
                <a:solidFill>
                  <a:schemeClr val="accent2"/>
                </a:solidFill>
                <a:latin typeface="Times New Roman" pitchFamily="34" charset="0"/>
                <a:ea typeface="Times New Roman" pitchFamily="34" charset="-122"/>
                <a:cs typeface="Times New Roman" pitchFamily="34" charset="-120"/>
              </a:rPr>
              <a:t> </a:t>
            </a:r>
            <a:r>
              <a:rPr lang="en-US" b="1">
                <a:solidFill>
                  <a:schemeClr val="accent2"/>
                </a:solidFill>
                <a:latin typeface="Times New Roman" pitchFamily="34" charset="0"/>
                <a:ea typeface="Times New Roman" pitchFamily="34" charset="-122"/>
                <a:cs typeface="Times New Roman" pitchFamily="34" charset="-120"/>
              </a:rPr>
              <a:t>QUESTION DE LA PROBLÉMATIQUE</a:t>
            </a:r>
            <a:endParaRPr lang="en-US">
              <a:solidFill>
                <a:schemeClr val="accent2"/>
              </a:solidFill>
            </a:endParaRPr>
          </a:p>
          <a:p>
            <a:r>
              <a:rPr lang="en-US" b="1">
                <a:solidFill>
                  <a:schemeClr val="accent5"/>
                </a:solidFill>
                <a:latin typeface="Times New Roman" panose="02020603050405020304" pitchFamily="18" charset="0"/>
                <a:ea typeface="Times New Roman" pitchFamily="34" charset="-122"/>
                <a:cs typeface="Times New Roman" panose="02020603050405020304" pitchFamily="18" charset="0"/>
              </a:rPr>
              <a:t>Comment concevoir une plateforme numérique centralisée permettant de gérer efficacement les agents de sécurité de l’UASZ ?</a:t>
            </a:r>
            <a:endParaRPr lang="en-US">
              <a:solidFill>
                <a:schemeClr val="accent5"/>
              </a:solidFill>
              <a:latin typeface="Times New Roman" panose="02020603050405020304" pitchFamily="18" charset="0"/>
              <a:cs typeface="Times New Roman" panose="02020603050405020304" pitchFamily="18" charset="0"/>
            </a:endParaRPr>
          </a:p>
          <a:p>
            <a:endParaRPr lang="fr-FR"/>
          </a:p>
          <a:p>
            <a:pPr algn="ctr">
              <a:lnSpc>
                <a:spcPct val="104000"/>
              </a:lnSpc>
            </a:pPr>
            <a:endParaRPr lang="en-US"/>
          </a:p>
          <a:p>
            <a:r>
              <a:rPr lang="fr-FR" smtClean="0">
                <a:solidFill>
                  <a:srgbClr val="002060"/>
                </a:solidFill>
                <a:latin typeface="Times New Roman"/>
              </a:rPr>
              <a:t>                                                                                                      </a:t>
            </a:r>
            <a:r>
              <a:rPr lang="fr-FR" sz="1600" smtClean="0">
                <a:solidFill>
                  <a:srgbClr val="002060"/>
                </a:solidFill>
                <a:latin typeface="Times New Roman"/>
              </a:rPr>
              <a:t>Projet </a:t>
            </a:r>
            <a:r>
              <a:rPr lang="fr-FR" sz="1600">
                <a:solidFill>
                  <a:srgbClr val="002060"/>
                </a:solidFill>
                <a:latin typeface="Times New Roman"/>
              </a:rPr>
              <a:t>tutoriel   |   </a:t>
            </a:r>
            <a:r>
              <a:rPr lang="fr-FR" sz="1600" smtClean="0">
                <a:solidFill>
                  <a:srgbClr val="002060"/>
                </a:solidFill>
                <a:latin typeface="Times New Roman"/>
              </a:rPr>
              <a:t>2/21</a:t>
            </a:r>
            <a:endParaRPr lang="fr-FR" sz="1600">
              <a:solidFill>
                <a:srgbClr val="002060"/>
              </a:solidFill>
              <a:latin typeface="Times New Roman"/>
            </a:endParaRPr>
          </a:p>
          <a:p>
            <a:endParaRPr lang="fr-FR"/>
          </a:p>
        </p:txBody>
      </p:sp>
      <p:sp>
        <p:nvSpPr>
          <p:cNvPr id="9" name="Text 6"/>
          <p:cNvSpPr/>
          <p:nvPr/>
        </p:nvSpPr>
        <p:spPr>
          <a:xfrm>
            <a:off x="835320" y="3405782"/>
            <a:ext cx="7458075" cy="246221"/>
          </a:xfrm>
          <a:prstGeom prst="rect">
            <a:avLst/>
          </a:prstGeom>
          <a:noFill/>
          <a:ln/>
        </p:spPr>
        <p:txBody>
          <a:bodyPr wrap="square" lIns="0" tIns="0" rIns="0" bIns="0" rtlCol="0" anchor="t">
            <a:spAutoFit/>
          </a:bodyPr>
          <a:lstStyle/>
          <a:p>
            <a:pPr marL="0" indent="0" algn="ctr">
              <a:buNone/>
            </a:pPr>
            <a:endParaRPr lang="en-US" sz="1600" dirty="0">
              <a:solidFill>
                <a:schemeClr val="accent2"/>
              </a:solidFill>
            </a:endParaRPr>
          </a:p>
        </p:txBody>
      </p:sp>
      <p:sp>
        <p:nvSpPr>
          <p:cNvPr id="10" name="Text 7"/>
          <p:cNvSpPr/>
          <p:nvPr/>
        </p:nvSpPr>
        <p:spPr>
          <a:xfrm>
            <a:off x="830667" y="3263820"/>
            <a:ext cx="7553769" cy="246221"/>
          </a:xfrm>
          <a:prstGeom prst="rect">
            <a:avLst/>
          </a:prstGeom>
          <a:noFill/>
          <a:ln/>
        </p:spPr>
        <p:txBody>
          <a:bodyPr wrap="square" lIns="0" tIns="0" rIns="0" bIns="0" rtlCol="0" anchor="t">
            <a:spAutoFit/>
          </a:bodyPr>
          <a:lstStyle/>
          <a:p>
            <a:pPr marL="0" indent="0" algn="ctr">
              <a:lnSpc>
                <a:spcPct val="104000"/>
              </a:lnSpc>
              <a:buNone/>
            </a:pPr>
            <a:endParaRPr lang="en-US" sz="1600" dirty="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5" name="Rectangle 14"/>
          <p:cNvSpPr/>
          <p:nvPr/>
        </p:nvSpPr>
        <p:spPr>
          <a:xfrm>
            <a:off x="2371893" y="0"/>
            <a:ext cx="3461204" cy="369332"/>
          </a:xfrm>
          <a:prstGeom prst="rect">
            <a:avLst/>
          </a:prstGeom>
        </p:spPr>
        <p:txBody>
          <a:bodyPr wrap="none">
            <a:spAutoFit/>
          </a:bodyPr>
          <a:lstStyle/>
          <a:p>
            <a:r>
              <a:rPr lang="en-US" b="1" smtClean="0">
                <a:solidFill>
                  <a:schemeClr val="accent5"/>
                </a:solidFill>
                <a:latin typeface="Times New Roman" pitchFamily="34" charset="0"/>
                <a:cs typeface="Times New Roman" pitchFamily="34" charset="-120"/>
              </a:rPr>
              <a:t>III.   STRUCTURE GENERALE</a:t>
            </a:r>
            <a:endParaRPr lang="en-US" dirty="0">
              <a:solidFill>
                <a:schemeClr val="accent5"/>
              </a:solidFill>
            </a:endParaRPr>
          </a:p>
        </p:txBody>
      </p:sp>
      <p:sp>
        <p:nvSpPr>
          <p:cNvPr id="16" name="Rectangle 15"/>
          <p:cNvSpPr/>
          <p:nvPr/>
        </p:nvSpPr>
        <p:spPr>
          <a:xfrm>
            <a:off x="393405" y="1107997"/>
            <a:ext cx="7825561" cy="3953102"/>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p:nvSpPr>
        <p:spPr>
          <a:xfrm>
            <a:off x="735496" y="369332"/>
            <a:ext cx="7981121" cy="738664"/>
          </a:xfrm>
          <a:prstGeom prst="rect">
            <a:avLst/>
          </a:prstGeom>
        </p:spPr>
        <p:txBody>
          <a:bodyPr wrap="square">
            <a:spAutoFit/>
          </a:bodyPr>
          <a:lstStyle/>
          <a:p>
            <a:r>
              <a:rPr lang="fr-FR" sz="1400">
                <a:latin typeface="Times New Roman" panose="02020603050405020304" pitchFamily="18" charset="0"/>
                <a:cs typeface="Times New Roman" panose="02020603050405020304" pitchFamily="18" charset="0"/>
              </a:rPr>
              <a:t>Cette vue d'ensemble présente l'organisation générale de la plateforme. Elle montre les différents utilisateurs, les principaux modules, la base de données, les rapports générés ainsi que les technologies utilisées pour assurer le fonctionnement du système.</a:t>
            </a:r>
          </a:p>
        </p:txBody>
      </p:sp>
      <p:sp>
        <p:nvSpPr>
          <p:cNvPr id="2" name="Rectangle 1"/>
          <p:cNvSpPr/>
          <p:nvPr/>
        </p:nvSpPr>
        <p:spPr>
          <a:xfrm>
            <a:off x="6980761" y="4876433"/>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3/21</a:t>
            </a:r>
            <a:endParaRPr lang="fr-FR" sz="1600"/>
          </a:p>
        </p:txBody>
      </p:sp>
    </p:spTree>
  </p:cSld>
  <p:clrMapOvr>
    <a:masterClrMapping/>
  </p:clrMapOvr>
  <mc:AlternateContent xmlns:mc="http://schemas.openxmlformats.org/markup-compatibility/2006" xmlns:p15="http://schemas.microsoft.com/office/powerpoint/2012/main">
    <mc:Choice Requires="p15">
      <p:transition spd="slow">
        <p15:prstTrans prst="pageCurlDoub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96" y="0"/>
            <a:ext cx="9144000" cy="5143500"/>
          </a:xfrm>
          <a:prstGeom prst="rect">
            <a:avLst/>
          </a:prstGeom>
        </p:spPr>
      </p:pic>
      <p:sp>
        <p:nvSpPr>
          <p:cNvPr id="3" name="Text 0"/>
          <p:cNvSpPr/>
          <p:nvPr/>
        </p:nvSpPr>
        <p:spPr>
          <a:xfrm>
            <a:off x="628650" y="414338"/>
            <a:ext cx="8515350" cy="269304"/>
          </a:xfrm>
          <a:prstGeom prst="rect">
            <a:avLst/>
          </a:prstGeom>
          <a:noFill/>
          <a:ln/>
        </p:spPr>
        <p:txBody>
          <a:bodyPr wrap="square" lIns="0" tIns="0" rIns="0" bIns="0" rtlCol="0" anchor="t">
            <a:spAutoFit/>
          </a:bodyPr>
          <a:lstStyle/>
          <a:p>
            <a:pPr marL="0" indent="0" algn="l">
              <a:buNone/>
            </a:pPr>
            <a:r>
              <a:rPr lang="en-US" sz="1750" b="1" smtClean="0">
                <a:solidFill>
                  <a:schemeClr val="accent5"/>
                </a:solidFill>
                <a:latin typeface="Times New Roman" pitchFamily="34" charset="0"/>
                <a:ea typeface="Times New Roman" pitchFamily="34" charset="-122"/>
                <a:cs typeface="Times New Roman" pitchFamily="34" charset="-120"/>
              </a:rPr>
              <a:t>IV.   OBJECTIFS </a:t>
            </a:r>
            <a:r>
              <a:rPr lang="en-US" sz="1750" b="1" dirty="0">
                <a:solidFill>
                  <a:schemeClr val="accent5"/>
                </a:solidFill>
                <a:latin typeface="Times New Roman" pitchFamily="34" charset="0"/>
                <a:ea typeface="Times New Roman" pitchFamily="34" charset="-122"/>
                <a:cs typeface="Times New Roman" pitchFamily="34" charset="-120"/>
              </a:rPr>
              <a:t>DU PROJET</a:t>
            </a:r>
            <a:endParaRPr lang="en-US" sz="1750" dirty="0">
              <a:solidFill>
                <a:schemeClr val="accent5"/>
              </a:solidFill>
            </a:endParaRPr>
          </a:p>
        </p:txBody>
      </p:sp>
      <p:sp>
        <p:nvSpPr>
          <p:cNvPr id="4" name="Text 1"/>
          <p:cNvSpPr/>
          <p:nvPr/>
        </p:nvSpPr>
        <p:spPr>
          <a:xfrm>
            <a:off x="628650" y="1157288"/>
            <a:ext cx="4574232" cy="2828916"/>
          </a:xfrm>
          <a:prstGeom prst="rect">
            <a:avLst/>
          </a:prstGeom>
          <a:noFill/>
          <a:ln/>
        </p:spPr>
        <p:txBody>
          <a:bodyPr wrap="square" lIns="0" tIns="0" rIns="0" bIns="0" rtlCol="0" anchor="t">
            <a:spAutoFit/>
          </a:bodyPr>
          <a:lstStyle/>
          <a:p>
            <a:pPr marL="342900" indent="-342900" algn="l">
              <a:lnSpc>
                <a:spcPct val="150000"/>
              </a:lnSpc>
              <a:buAutoNum type="alphaLcParenR"/>
            </a:pPr>
            <a:r>
              <a:rPr lang="en-US" sz="1400" b="1" smtClean="0">
                <a:solidFill>
                  <a:srgbClr val="F47C17"/>
                </a:solidFill>
                <a:latin typeface="Times New Roman" pitchFamily="34" charset="0"/>
                <a:ea typeface="Times New Roman" pitchFamily="34" charset="-122"/>
                <a:cs typeface="Times New Roman" pitchFamily="34" charset="-120"/>
              </a:rPr>
              <a:t>OBJECTIF GÉNÉRAL</a:t>
            </a:r>
          </a:p>
          <a:p>
            <a:pPr>
              <a:lnSpc>
                <a:spcPct val="150000"/>
              </a:lnSpc>
            </a:pPr>
            <a:r>
              <a:rPr lang="en-US" sz="1400" smtClean="0">
                <a:latin typeface="Times New Roman" panose="02020603050405020304" pitchFamily="18" charset="0"/>
                <a:ea typeface="Times New Roman" pitchFamily="34" charset="-122"/>
                <a:cs typeface="Times New Roman" panose="02020603050405020304" pitchFamily="18" charset="0"/>
              </a:rPr>
              <a:t>Automatiser </a:t>
            </a:r>
            <a:r>
              <a:rPr lang="en-US" sz="1400">
                <a:latin typeface="Times New Roman" panose="02020603050405020304" pitchFamily="18" charset="0"/>
                <a:ea typeface="Times New Roman" pitchFamily="34" charset="-122"/>
                <a:cs typeface="Times New Roman" panose="02020603050405020304" pitchFamily="18" charset="0"/>
              </a:rPr>
              <a:t>la gestion des agents de sécurité de l’UASZ</a:t>
            </a:r>
            <a:r>
              <a:rPr lang="en-US" sz="1200" smtClean="0">
                <a:latin typeface="Times New Roman" panose="02020603050405020304" pitchFamily="18" charset="0"/>
                <a:ea typeface="Times New Roman" pitchFamily="34" charset="-122"/>
                <a:cs typeface="Times New Roman" panose="02020603050405020304" pitchFamily="18" charset="0"/>
              </a:rPr>
              <a:t>.</a:t>
            </a:r>
          </a:p>
          <a:p>
            <a:pPr>
              <a:lnSpc>
                <a:spcPct val="150000"/>
              </a:lnSpc>
            </a:pPr>
            <a:endParaRPr lang="en-US" sz="1200">
              <a:latin typeface="Times New Roman" panose="02020603050405020304" pitchFamily="18" charset="0"/>
              <a:cs typeface="Times New Roman" panose="02020603050405020304" pitchFamily="18" charset="0"/>
            </a:endParaRPr>
          </a:p>
          <a:p>
            <a:pPr marL="342900" indent="-342900">
              <a:lnSpc>
                <a:spcPct val="150000"/>
              </a:lnSpc>
              <a:buAutoNum type="alphaLcParenR" startAt="2"/>
            </a:pPr>
            <a:r>
              <a:rPr lang="en-US" sz="1400" b="1" smtClean="0">
                <a:solidFill>
                  <a:srgbClr val="F47C17"/>
                </a:solidFill>
                <a:latin typeface="Times New Roman" pitchFamily="34" charset="0"/>
                <a:ea typeface="Times New Roman" pitchFamily="34" charset="-122"/>
                <a:cs typeface="Times New Roman" pitchFamily="34" charset="-120"/>
              </a:rPr>
              <a:t>OBJECTIFS SPÉCIFIQUES</a:t>
            </a:r>
          </a:p>
          <a:p>
            <a:pPr>
              <a:lnSpc>
                <a:spcPct val="150000"/>
              </a:lnSpc>
            </a:pPr>
            <a:r>
              <a:rPr lang="fr-FR" sz="1400" smtClean="0">
                <a:latin typeface="Times New Roman" panose="02020603050405020304" pitchFamily="18" charset="0"/>
                <a:cs typeface="Times New Roman" panose="02020603050405020304" pitchFamily="18" charset="0"/>
              </a:rPr>
              <a:t>Pour </a:t>
            </a:r>
            <a:r>
              <a:rPr lang="fr-FR" sz="1400">
                <a:latin typeface="Times New Roman" panose="02020603050405020304" pitchFamily="18" charset="0"/>
                <a:cs typeface="Times New Roman" panose="02020603050405020304" pitchFamily="18" charset="0"/>
              </a:rPr>
              <a:t>atteindre cet objectif général, le projet s'appuie sur deux objectifs spécifiques qui répondent aux principaux besoins du service de sécurité.</a:t>
            </a:r>
          </a:p>
          <a:p>
            <a:pPr>
              <a:lnSpc>
                <a:spcPct val="150000"/>
              </a:lnSpc>
            </a:pPr>
            <a:endParaRPr lang="en-US" sz="1400"/>
          </a:p>
          <a:p>
            <a:pPr algn="l">
              <a:lnSpc>
                <a:spcPct val="150000"/>
              </a:lnSpc>
            </a:pPr>
            <a:endParaRPr lang="en-US" sz="1400" dirty="0"/>
          </a:p>
        </p:txBody>
      </p:sp>
      <p:sp>
        <p:nvSpPr>
          <p:cNvPr id="5" name="Text 2"/>
          <p:cNvSpPr/>
          <p:nvPr/>
        </p:nvSpPr>
        <p:spPr>
          <a:xfrm>
            <a:off x="628650" y="1410891"/>
            <a:ext cx="65" cy="188385"/>
          </a:xfrm>
          <a:prstGeom prst="rect">
            <a:avLst/>
          </a:prstGeom>
          <a:noFill/>
          <a:ln/>
        </p:spPr>
        <p:txBody>
          <a:bodyPr wrap="none" lIns="0" tIns="0" rIns="0" bIns="0" rtlCol="0" anchor="t">
            <a:spAutoFit/>
          </a:bodyPr>
          <a:lstStyle/>
          <a:p>
            <a:pPr marL="0" indent="0" algn="l">
              <a:lnSpc>
                <a:spcPct val="110400"/>
              </a:lnSpc>
              <a:buNone/>
            </a:pPr>
            <a:endParaRPr lang="en-US" sz="1200" dirty="0">
              <a:latin typeface="Times New Roman" panose="02020603050405020304" pitchFamily="18" charset="0"/>
              <a:cs typeface="Times New Roman" panose="02020603050405020304" pitchFamily="18" charset="0"/>
            </a:endParaRPr>
          </a:p>
        </p:txBody>
      </p:sp>
      <p:sp>
        <p:nvSpPr>
          <p:cNvPr id="6" name="Text 3"/>
          <p:cNvSpPr/>
          <p:nvPr/>
        </p:nvSpPr>
        <p:spPr>
          <a:xfrm>
            <a:off x="628650" y="1694743"/>
            <a:ext cx="4574232" cy="215444"/>
          </a:xfrm>
          <a:prstGeom prst="rect">
            <a:avLst/>
          </a:prstGeom>
          <a:noFill/>
          <a:ln/>
        </p:spPr>
        <p:txBody>
          <a:bodyPr wrap="square" lIns="0" tIns="0" rIns="0" bIns="0" rtlCol="0" anchor="t">
            <a:spAutoFit/>
          </a:bodyPr>
          <a:lstStyle/>
          <a:p>
            <a:pPr marL="0" indent="0" algn="l">
              <a:buNone/>
            </a:pPr>
            <a:endParaRPr lang="en-US" sz="1400" dirty="0"/>
          </a:p>
        </p:txBody>
      </p:sp>
      <p:sp>
        <p:nvSpPr>
          <p:cNvPr id="7" name="Text 4"/>
          <p:cNvSpPr/>
          <p:nvPr/>
        </p:nvSpPr>
        <p:spPr>
          <a:xfrm>
            <a:off x="531885" y="3431360"/>
            <a:ext cx="4626266" cy="914096"/>
          </a:xfrm>
          <a:prstGeom prst="rect">
            <a:avLst/>
          </a:prstGeom>
          <a:noFill/>
          <a:ln/>
        </p:spPr>
        <p:txBody>
          <a:bodyPr wrap="none" lIns="0" tIns="0" rIns="0" bIns="0" rtlCol="0" anchor="t">
            <a:spAutoFit/>
          </a:bodyPr>
          <a:lstStyle/>
          <a:p>
            <a:pPr marL="171450" indent="-171450" algn="l">
              <a:lnSpc>
                <a:spcPct val="110400"/>
              </a:lnSpc>
              <a:buSzPct val="100000"/>
              <a:buFont typeface="Wingdings" panose="05000000000000000000" pitchFamily="2" charset="2"/>
              <a:buChar char="Ø"/>
            </a:pPr>
            <a:r>
              <a:rPr lang="en-US" smtClean="0">
                <a:solidFill>
                  <a:schemeClr val="accent1"/>
                </a:solidFill>
                <a:latin typeface="Times New Roman" panose="02020603050405020304" pitchFamily="18" charset="0"/>
                <a:ea typeface="Times New Roman" pitchFamily="34" charset="-122"/>
                <a:cs typeface="Times New Roman" panose="02020603050405020304" pitchFamily="18" charset="0"/>
              </a:rPr>
              <a:t>Automatiser </a:t>
            </a:r>
            <a:r>
              <a:rPr lang="en-US" dirty="0">
                <a:solidFill>
                  <a:schemeClr val="accent1"/>
                </a:solidFill>
                <a:latin typeface="Times New Roman" panose="02020603050405020304" pitchFamily="18" charset="0"/>
                <a:ea typeface="Times New Roman" pitchFamily="34" charset="-122"/>
                <a:cs typeface="Times New Roman" panose="02020603050405020304" pitchFamily="18" charset="0"/>
              </a:rPr>
              <a:t>la gestion du personnel de </a:t>
            </a:r>
            <a:r>
              <a:rPr lang="en-US">
                <a:solidFill>
                  <a:schemeClr val="accent1"/>
                </a:solidFill>
                <a:latin typeface="Times New Roman" panose="02020603050405020304" pitchFamily="18" charset="0"/>
                <a:ea typeface="Times New Roman" pitchFamily="34" charset="-122"/>
                <a:cs typeface="Times New Roman" panose="02020603050405020304" pitchFamily="18" charset="0"/>
              </a:rPr>
              <a:t>sécurité</a:t>
            </a:r>
            <a:r>
              <a:rPr lang="en-US" smtClean="0">
                <a:solidFill>
                  <a:schemeClr val="accent1"/>
                </a:solidFill>
                <a:latin typeface="Times New Roman" panose="02020603050405020304" pitchFamily="18" charset="0"/>
                <a:ea typeface="Times New Roman" pitchFamily="34" charset="-122"/>
                <a:cs typeface="Times New Roman" panose="02020603050405020304" pitchFamily="18" charset="0"/>
              </a:rPr>
              <a:t>.</a:t>
            </a:r>
          </a:p>
          <a:p>
            <a:pPr algn="l">
              <a:lnSpc>
                <a:spcPct val="110400"/>
              </a:lnSpc>
              <a:buSzPct val="100000"/>
            </a:pPr>
            <a:endParaRPr lang="en-US" smtClean="0">
              <a:solidFill>
                <a:schemeClr val="accent1"/>
              </a:solidFill>
              <a:latin typeface="Times New Roman" panose="02020603050405020304" pitchFamily="18" charset="0"/>
              <a:ea typeface="Times New Roman" pitchFamily="34" charset="-122"/>
              <a:cs typeface="Times New Roman" panose="02020603050405020304" pitchFamily="18" charset="0"/>
            </a:endParaRPr>
          </a:p>
          <a:p>
            <a:pPr algn="l">
              <a:lnSpc>
                <a:spcPct val="110400"/>
              </a:lnSpc>
              <a:buSzPct val="100000"/>
            </a:pP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8" name="Text 5"/>
          <p:cNvSpPr/>
          <p:nvPr/>
        </p:nvSpPr>
        <p:spPr>
          <a:xfrm>
            <a:off x="814388" y="2175049"/>
            <a:ext cx="4388495" cy="193002"/>
          </a:xfrm>
          <a:prstGeom prst="rect">
            <a:avLst/>
          </a:prstGeom>
          <a:noFill/>
          <a:ln/>
        </p:spPr>
        <p:txBody>
          <a:bodyPr wrap="square" lIns="0" tIns="0" rIns="0" bIns="0" rtlCol="0" anchor="t">
            <a:spAutoFit/>
          </a:bodyPr>
          <a:lstStyle/>
          <a:p>
            <a:pPr algn="l">
              <a:lnSpc>
                <a:spcPct val="110400"/>
              </a:lnSpc>
              <a:buSzPct val="100000"/>
            </a:pPr>
            <a:endParaRPr lang="en-US" sz="1200" dirty="0"/>
          </a:p>
        </p:txBody>
      </p:sp>
      <p:sp>
        <p:nvSpPr>
          <p:cNvPr id="11" name="Text 7"/>
          <p:cNvSpPr/>
          <p:nvPr/>
        </p:nvSpPr>
        <p:spPr>
          <a:xfrm>
            <a:off x="7277640" y="2464594"/>
            <a:ext cx="1687767" cy="493725"/>
          </a:xfrm>
          <a:prstGeom prst="rect">
            <a:avLst/>
          </a:prstGeom>
          <a:noFill/>
          <a:ln/>
        </p:spPr>
        <p:txBody>
          <a:bodyPr wrap="square" lIns="229616" tIns="153035" rIns="229616" bIns="153035" rtlCol="0" anchor="t">
            <a:spAutoFit/>
          </a:bodyPr>
          <a:lstStyle/>
          <a:p>
            <a:pPr marL="0" indent="0" algn="ctr">
              <a:buNone/>
            </a:pPr>
            <a:endParaRPr lang="en-US" sz="1200" dirty="0"/>
          </a:p>
        </p:txBody>
      </p:sp>
      <p:sp>
        <p:nvSpPr>
          <p:cNvPr id="14" name="Rectangle 13"/>
          <p:cNvSpPr/>
          <p:nvPr/>
        </p:nvSpPr>
        <p:spPr>
          <a:xfrm>
            <a:off x="530657" y="1997236"/>
            <a:ext cx="3693473" cy="307777"/>
          </a:xfrm>
          <a:prstGeom prst="rect">
            <a:avLst/>
          </a:prstGeom>
        </p:spPr>
        <p:txBody>
          <a:bodyPr wrap="square">
            <a:spAutoFit/>
          </a:bodyPr>
          <a:lstStyle/>
          <a:p>
            <a:endParaRPr lang="fr-FR" sz="1400">
              <a:latin typeface="Times New Roman" panose="02020603050405020304" pitchFamily="18" charset="0"/>
              <a:cs typeface="Times New Roman" panose="02020603050405020304" pitchFamily="18" charset="0"/>
            </a:endParaRPr>
          </a:p>
        </p:txBody>
      </p:sp>
      <p:sp>
        <p:nvSpPr>
          <p:cNvPr id="9" name="Rectangle 8"/>
          <p:cNvSpPr/>
          <p:nvPr/>
        </p:nvSpPr>
        <p:spPr>
          <a:xfrm>
            <a:off x="460923" y="4042746"/>
            <a:ext cx="7492229" cy="701731"/>
          </a:xfrm>
          <a:prstGeom prst="rect">
            <a:avLst/>
          </a:prstGeom>
        </p:spPr>
        <p:txBody>
          <a:bodyPr wrap="square">
            <a:spAutoFit/>
          </a:bodyPr>
          <a:lstStyle/>
          <a:p>
            <a:pPr marL="171450" indent="-171450">
              <a:lnSpc>
                <a:spcPct val="110400"/>
              </a:lnSpc>
              <a:buSzPct val="100000"/>
              <a:buFont typeface="Wingdings" panose="05000000000000000000" pitchFamily="2" charset="2"/>
              <a:buChar char="Ø"/>
            </a:pPr>
            <a:r>
              <a:rPr lang="en-US">
                <a:solidFill>
                  <a:schemeClr val="accent1"/>
                </a:solidFill>
                <a:latin typeface="Times New Roman" panose="02020603050405020304" pitchFamily="18" charset="0"/>
                <a:ea typeface="Times New Roman" pitchFamily="34" charset="-122"/>
                <a:cs typeface="Times New Roman" panose="02020603050405020304" pitchFamily="18" charset="0"/>
              </a:rPr>
              <a:t>Automatiser la gestion de l’affectation des agents de sécurité aux locaux de l’UASZ.</a:t>
            </a:r>
            <a:endParaRPr lang="en-US">
              <a:solidFill>
                <a:schemeClr val="accent1"/>
              </a:solidFill>
              <a:latin typeface="Times New Roman" panose="02020603050405020304" pitchFamily="18" charset="0"/>
              <a:cs typeface="Times New Roman" panose="02020603050405020304" pitchFamily="18" charset="0"/>
            </a:endParaRPr>
          </a:p>
        </p:txBody>
      </p:sp>
      <p:sp>
        <p:nvSpPr>
          <p:cNvPr id="10" name="Ellipse 9"/>
          <p:cNvSpPr/>
          <p:nvPr/>
        </p:nvSpPr>
        <p:spPr>
          <a:xfrm>
            <a:off x="5299647" y="151054"/>
            <a:ext cx="2472753" cy="1804659"/>
          </a:xfrm>
          <a:prstGeom prst="ellipse">
            <a:avLst/>
          </a:prstGeom>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Shape 9"/>
          <p:cNvSpPr/>
          <p:nvPr/>
        </p:nvSpPr>
        <p:spPr>
          <a:xfrm>
            <a:off x="5497033" y="279413"/>
            <a:ext cx="2275367" cy="1495850"/>
          </a:xfrm>
          <a:prstGeom prst="ellipse">
            <a:avLst/>
          </a:prstGeom>
          <a:blipFill dpi="0" rotWithShape="1">
            <a:blip r:embed="rId4" cstate="email">
              <a:extLst>
                <a:ext uri="{28A0092B-C50C-407E-A947-70E740481C1C}">
                  <a14:useLocalDpi xmlns:a14="http://schemas.microsoft.com/office/drawing/2010/main"/>
                </a:ext>
              </a:extLst>
            </a:blip>
            <a:srcRect/>
            <a:stretch>
              <a:fillRect/>
            </a:stretch>
          </a:blipFill>
          <a:ln w="45720">
            <a:solidFill>
              <a:srgbClr val="FF6D00"/>
            </a:solidFill>
            <a:prstDash val="solid"/>
          </a:ln>
        </p:spPr>
      </p:sp>
      <p:sp>
        <p:nvSpPr>
          <p:cNvPr id="13" name="Rectangle 12"/>
          <p:cNvSpPr/>
          <p:nvPr/>
        </p:nvSpPr>
        <p:spPr>
          <a:xfrm>
            <a:off x="6855391" y="4826325"/>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4/21</a:t>
            </a:r>
            <a:endParaRPr lang="fr-FR" sz="1600"/>
          </a:p>
        </p:txBody>
      </p:sp>
    </p:spTree>
    <p:extLst>
      <p:ext uri="{BB962C8B-B14F-4D97-AF65-F5344CB8AC3E}">
        <p14:creationId xmlns:p14="http://schemas.microsoft.com/office/powerpoint/2010/main" val="32192344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16226" y="131826"/>
            <a:ext cx="8527774" cy="269304"/>
          </a:xfrm>
          <a:prstGeom prst="rect">
            <a:avLst/>
          </a:prstGeom>
          <a:noFill/>
          <a:ln/>
        </p:spPr>
        <p:txBody>
          <a:bodyPr wrap="square" lIns="0" tIns="0" rIns="0" bIns="0" rtlCol="0" anchor="t">
            <a:spAutoFit/>
          </a:bodyPr>
          <a:lstStyle/>
          <a:p>
            <a:pPr marL="0" indent="0" algn="l">
              <a:buNone/>
            </a:pPr>
            <a:r>
              <a:rPr lang="en-US" sz="1750" b="1" smtClean="0">
                <a:solidFill>
                  <a:schemeClr val="accent5"/>
                </a:solidFill>
                <a:latin typeface="Times New Roman" pitchFamily="34" charset="0"/>
                <a:ea typeface="Times New Roman" pitchFamily="34" charset="-122"/>
                <a:cs typeface="Times New Roman" pitchFamily="34" charset="-120"/>
              </a:rPr>
              <a:t>                                       V.  UTILISATEURS </a:t>
            </a:r>
            <a:r>
              <a:rPr lang="en-US" sz="1750" b="1" dirty="0">
                <a:solidFill>
                  <a:schemeClr val="accent5"/>
                </a:solidFill>
                <a:latin typeface="Times New Roman" pitchFamily="34" charset="0"/>
                <a:ea typeface="Times New Roman" pitchFamily="34" charset="-122"/>
                <a:cs typeface="Times New Roman" pitchFamily="34" charset="-120"/>
              </a:rPr>
              <a:t>ET PROFILS</a:t>
            </a:r>
            <a:endParaRPr lang="en-US" sz="1750" dirty="0">
              <a:solidFill>
                <a:schemeClr val="accent5"/>
              </a:solidFill>
            </a:endParaRPr>
          </a:p>
        </p:txBody>
      </p:sp>
      <p:sp>
        <p:nvSpPr>
          <p:cNvPr id="28" name="Shape 25"/>
          <p:cNvSpPr/>
          <p:nvPr/>
        </p:nvSpPr>
        <p:spPr>
          <a:xfrm>
            <a:off x="628650" y="5041032"/>
            <a:ext cx="7886700" cy="303609"/>
          </a:xfrm>
          <a:prstGeom prst="rect">
            <a:avLst/>
          </a:prstGeom>
          <a:solidFill>
            <a:srgbClr val="000000">
              <a:alpha val="0"/>
            </a:srgbClr>
          </a:solidFill>
          <a:ln/>
        </p:spPr>
      </p:sp>
      <p:sp>
        <p:nvSpPr>
          <p:cNvPr id="29" name="Shape 26"/>
          <p:cNvSpPr/>
          <p:nvPr/>
        </p:nvSpPr>
        <p:spPr>
          <a:xfrm>
            <a:off x="628650" y="5041032"/>
            <a:ext cx="7886700" cy="28575"/>
          </a:xfrm>
          <a:prstGeom prst="rect">
            <a:avLst/>
          </a:prstGeom>
          <a:solidFill>
            <a:srgbClr val="F47C17"/>
          </a:solidFill>
          <a:ln/>
        </p:spPr>
      </p:sp>
      <p:sp>
        <p:nvSpPr>
          <p:cNvPr id="30" name="Text 27"/>
          <p:cNvSpPr/>
          <p:nvPr/>
        </p:nvSpPr>
        <p:spPr>
          <a:xfrm>
            <a:off x="628650" y="4614193"/>
            <a:ext cx="7886700" cy="280077"/>
          </a:xfrm>
          <a:prstGeom prst="rect">
            <a:avLst/>
          </a:prstGeom>
          <a:noFill/>
          <a:ln/>
        </p:spPr>
        <p:txBody>
          <a:bodyPr wrap="square" lIns="0" tIns="102108" rIns="0" bIns="0" rtlCol="0" anchor="t">
            <a:spAutoFit/>
          </a:bodyPr>
          <a:lstStyle/>
          <a:p>
            <a:pPr marL="0" indent="0" algn="ctr">
              <a:buNone/>
            </a:pPr>
            <a:endParaRPr lang="en-US" sz="1150" dirty="0"/>
          </a:p>
        </p:txBody>
      </p:sp>
      <p:sp>
        <p:nvSpPr>
          <p:cNvPr id="32" name="Rectangle 1"/>
          <p:cNvSpPr>
            <a:spLocks noChangeArrowheads="1"/>
          </p:cNvSpPr>
          <p:nvPr/>
        </p:nvSpPr>
        <p:spPr bwMode="auto">
          <a:xfrm>
            <a:off x="2978150" y="13700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33" name="Rectangle 32"/>
          <p:cNvSpPr/>
          <p:nvPr/>
        </p:nvSpPr>
        <p:spPr>
          <a:xfrm>
            <a:off x="406400" y="401130"/>
            <a:ext cx="7143750" cy="523220"/>
          </a:xfrm>
          <a:prstGeom prst="rect">
            <a:avLst/>
          </a:prstGeom>
        </p:spPr>
        <p:txBody>
          <a:bodyPr wrap="square">
            <a:spAutoFit/>
          </a:bodyPr>
          <a:lstStyle/>
          <a:p>
            <a:r>
              <a:rPr lang="fr-FR" sz="1400" smtClean="0">
                <a:latin typeface="Montserrat ExtraBold"/>
              </a:rPr>
              <a:t>La plateforme est destinée à plusieurs catégories d'utilisateurs, chacune disposant de responsabilités et de fonctionnalités adaptées à son rôle.</a:t>
            </a:r>
            <a:endParaRPr lang="fr-FR" sz="1400">
              <a:latin typeface="Montserrat ExtraBold"/>
            </a:endParaRPr>
          </a:p>
        </p:txBody>
      </p:sp>
      <p:sp>
        <p:nvSpPr>
          <p:cNvPr id="34" name="Rectangle 33"/>
          <p:cNvSpPr/>
          <p:nvPr/>
        </p:nvSpPr>
        <p:spPr>
          <a:xfrm>
            <a:off x="616226" y="924350"/>
            <a:ext cx="7899124" cy="3969920"/>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p:cNvSpPr/>
          <p:nvPr/>
        </p:nvSpPr>
        <p:spPr>
          <a:xfrm>
            <a:off x="7089197" y="4871755"/>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5/21</a:t>
            </a:r>
            <a:endParaRPr lang="fr-FR" sz="1600"/>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441361"/>
          </a:xfrm>
          <a:prstGeom prst="rect">
            <a:avLst/>
          </a:prstGeom>
        </p:spPr>
      </p:pic>
      <p:sp>
        <p:nvSpPr>
          <p:cNvPr id="3" name="Text 0"/>
          <p:cNvSpPr/>
          <p:nvPr/>
        </p:nvSpPr>
        <p:spPr>
          <a:xfrm>
            <a:off x="628650" y="414338"/>
            <a:ext cx="8515350" cy="276999"/>
          </a:xfrm>
          <a:prstGeom prst="rect">
            <a:avLst/>
          </a:prstGeom>
          <a:noFill/>
          <a:ln/>
        </p:spPr>
        <p:txBody>
          <a:bodyPr wrap="square" lIns="0" tIns="0" rIns="0" bIns="0" rtlCol="0" anchor="t">
            <a:spAutoFit/>
          </a:bodyPr>
          <a:lstStyle/>
          <a:p>
            <a:pPr marL="0" indent="0" algn="l">
              <a:buNone/>
            </a:pPr>
            <a:r>
              <a:rPr lang="en-US" b="1" smtClean="0">
                <a:solidFill>
                  <a:schemeClr val="accent5"/>
                </a:solidFill>
                <a:latin typeface="Times New Roman" pitchFamily="34" charset="0"/>
                <a:ea typeface="Times New Roman" pitchFamily="34" charset="-122"/>
                <a:cs typeface="Times New Roman" pitchFamily="34" charset="-120"/>
              </a:rPr>
              <a:t>VI.   AXES </a:t>
            </a:r>
            <a:r>
              <a:rPr lang="en-US" b="1" dirty="0">
                <a:solidFill>
                  <a:schemeClr val="accent5"/>
                </a:solidFill>
                <a:latin typeface="Times New Roman" pitchFamily="34" charset="0"/>
                <a:ea typeface="Times New Roman" pitchFamily="34" charset="-122"/>
                <a:cs typeface="Times New Roman" pitchFamily="34" charset="-120"/>
              </a:rPr>
              <a:t>FONCTIONNELS DU PROJET</a:t>
            </a:r>
            <a:endParaRPr lang="en-US" dirty="0">
              <a:solidFill>
                <a:schemeClr val="accent5"/>
              </a:solidFill>
            </a:endParaRPr>
          </a:p>
        </p:txBody>
      </p:sp>
      <p:sp>
        <p:nvSpPr>
          <p:cNvPr id="4" name="Shape 1"/>
          <p:cNvSpPr/>
          <p:nvPr/>
        </p:nvSpPr>
        <p:spPr>
          <a:xfrm>
            <a:off x="0" y="1300163"/>
            <a:ext cx="3451827" cy="2964656"/>
          </a:xfrm>
          <a:prstGeom prst="rect">
            <a:avLst/>
          </a:prstGeom>
          <a:solidFill>
            <a:srgbClr val="DDEAF4"/>
          </a:solidFill>
          <a:ln/>
        </p:spPr>
      </p:sp>
      <p:sp>
        <p:nvSpPr>
          <p:cNvPr id="5" name="Shape 2"/>
          <p:cNvSpPr/>
          <p:nvPr/>
        </p:nvSpPr>
        <p:spPr>
          <a:xfrm>
            <a:off x="0" y="1300163"/>
            <a:ext cx="3451827" cy="35719"/>
          </a:xfrm>
          <a:prstGeom prst="rect">
            <a:avLst/>
          </a:prstGeom>
          <a:solidFill>
            <a:srgbClr val="F47C17"/>
          </a:solidFill>
          <a:ln/>
        </p:spPr>
      </p:sp>
      <p:sp>
        <p:nvSpPr>
          <p:cNvPr id="6" name="Shape 3"/>
          <p:cNvSpPr/>
          <p:nvPr/>
        </p:nvSpPr>
        <p:spPr>
          <a:xfrm>
            <a:off x="3416108" y="1300163"/>
            <a:ext cx="35719" cy="2964656"/>
          </a:xfrm>
          <a:prstGeom prst="rect">
            <a:avLst/>
          </a:prstGeom>
          <a:solidFill>
            <a:srgbClr val="F47C17"/>
          </a:solidFill>
          <a:ln/>
        </p:spPr>
      </p:sp>
      <p:sp>
        <p:nvSpPr>
          <p:cNvPr id="7" name="Shape 4"/>
          <p:cNvSpPr/>
          <p:nvPr/>
        </p:nvSpPr>
        <p:spPr>
          <a:xfrm>
            <a:off x="0" y="4207669"/>
            <a:ext cx="3451827" cy="57150"/>
          </a:xfrm>
          <a:prstGeom prst="rect">
            <a:avLst/>
          </a:prstGeom>
          <a:solidFill>
            <a:srgbClr val="1F2D6B"/>
          </a:solidFill>
          <a:ln/>
        </p:spPr>
      </p:sp>
      <p:sp>
        <p:nvSpPr>
          <p:cNvPr id="8" name="Shape 5"/>
          <p:cNvSpPr/>
          <p:nvPr/>
        </p:nvSpPr>
        <p:spPr>
          <a:xfrm>
            <a:off x="0" y="1300163"/>
            <a:ext cx="57150" cy="2964656"/>
          </a:xfrm>
          <a:prstGeom prst="rect">
            <a:avLst/>
          </a:prstGeom>
          <a:solidFill>
            <a:srgbClr val="1F2D6B"/>
          </a:solidFill>
          <a:ln/>
        </p:spPr>
      </p:sp>
      <p:pic>
        <p:nvPicPr>
          <p:cNvPr id="9"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150" y="1273770"/>
            <a:ext cx="3334354" cy="2964656"/>
          </a:xfrm>
          <a:prstGeom prst="rect">
            <a:avLst/>
          </a:prstGeom>
        </p:spPr>
      </p:pic>
      <p:sp>
        <p:nvSpPr>
          <p:cNvPr id="10" name="Text 6"/>
          <p:cNvSpPr/>
          <p:nvPr/>
        </p:nvSpPr>
        <p:spPr>
          <a:xfrm>
            <a:off x="3694714" y="1214438"/>
            <a:ext cx="4892018" cy="215444"/>
          </a:xfrm>
          <a:prstGeom prst="rect">
            <a:avLst/>
          </a:prstGeom>
          <a:noFill/>
          <a:ln/>
        </p:spPr>
        <p:txBody>
          <a:bodyPr wrap="square" lIns="0" tIns="0" rIns="0" bIns="0" rtlCol="0" anchor="t">
            <a:spAutoFit/>
          </a:bodyPr>
          <a:lstStyle/>
          <a:p>
            <a:pPr marL="0" indent="0" algn="l">
              <a:buNone/>
            </a:pPr>
            <a:r>
              <a:rPr lang="en-US" sz="1400" b="1" smtClean="0">
                <a:solidFill>
                  <a:srgbClr val="F47C17"/>
                </a:solidFill>
                <a:latin typeface="Times New Roman" pitchFamily="34" charset="0"/>
                <a:ea typeface="Times New Roman" pitchFamily="34" charset="-122"/>
                <a:cs typeface="Times New Roman" pitchFamily="34" charset="-120"/>
              </a:rPr>
              <a:t>1° OBJECTIF </a:t>
            </a:r>
            <a:r>
              <a:rPr lang="en-US" sz="1400" b="1" dirty="0">
                <a:solidFill>
                  <a:srgbClr val="F47C17"/>
                </a:solidFill>
                <a:latin typeface="Times New Roman" pitchFamily="34" charset="0"/>
                <a:ea typeface="Times New Roman" pitchFamily="34" charset="-122"/>
                <a:cs typeface="Times New Roman" pitchFamily="34" charset="-120"/>
              </a:rPr>
              <a:t>SPÉCIFIQUE 1</a:t>
            </a:r>
            <a:endParaRPr lang="en-US" sz="1400" dirty="0"/>
          </a:p>
        </p:txBody>
      </p:sp>
      <p:sp>
        <p:nvSpPr>
          <p:cNvPr id="11" name="Text 7"/>
          <p:cNvSpPr/>
          <p:nvPr/>
        </p:nvSpPr>
        <p:spPr>
          <a:xfrm>
            <a:off x="3694714" y="1460897"/>
            <a:ext cx="3459280" cy="224036"/>
          </a:xfrm>
          <a:prstGeom prst="rect">
            <a:avLst/>
          </a:prstGeom>
          <a:noFill/>
          <a:ln/>
        </p:spPr>
        <p:txBody>
          <a:bodyPr wrap="none" lIns="0" tIns="0" rIns="0" bIns="0" rtlCol="0" anchor="t">
            <a:spAutoFit/>
          </a:bodyPr>
          <a:lstStyle/>
          <a:p>
            <a:pPr marL="0" indent="0" algn="l">
              <a:lnSpc>
                <a:spcPct val="104000"/>
              </a:lnSpc>
              <a:buNone/>
            </a:pPr>
            <a:r>
              <a:rPr lang="en-US" sz="1400" dirty="0">
                <a:solidFill>
                  <a:srgbClr val="000000"/>
                </a:solidFill>
                <a:latin typeface="Times New Roman" pitchFamily="34" charset="0"/>
                <a:ea typeface="Times New Roman" pitchFamily="34" charset="-122"/>
                <a:cs typeface="Times New Roman" pitchFamily="34" charset="-120"/>
              </a:rPr>
              <a:t>Automatiser la gestion du personnel de sécurité.</a:t>
            </a:r>
            <a:endParaRPr lang="en-US" sz="1400" dirty="0"/>
          </a:p>
        </p:txBody>
      </p:sp>
      <p:sp>
        <p:nvSpPr>
          <p:cNvPr id="12" name="Text 8"/>
          <p:cNvSpPr/>
          <p:nvPr/>
        </p:nvSpPr>
        <p:spPr>
          <a:xfrm>
            <a:off x="3837589" y="1755186"/>
            <a:ext cx="2958823"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des informations des agents.</a:t>
            </a:r>
            <a:endParaRPr lang="en-US" sz="1400" dirty="0"/>
          </a:p>
        </p:txBody>
      </p:sp>
      <p:sp>
        <p:nvSpPr>
          <p:cNvPr id="13" name="Text 9"/>
          <p:cNvSpPr/>
          <p:nvPr/>
        </p:nvSpPr>
        <p:spPr>
          <a:xfrm>
            <a:off x="3837589" y="2010463"/>
            <a:ext cx="2037033"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du recrutement.</a:t>
            </a:r>
            <a:endParaRPr lang="en-US" sz="1400" dirty="0"/>
          </a:p>
        </p:txBody>
      </p:sp>
      <p:sp>
        <p:nvSpPr>
          <p:cNvPr id="14" name="Text 10"/>
          <p:cNvSpPr/>
          <p:nvPr/>
        </p:nvSpPr>
        <p:spPr>
          <a:xfrm>
            <a:off x="3837589" y="2265741"/>
            <a:ext cx="2912272"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 la carrière du personnel.</a:t>
            </a:r>
            <a:endParaRPr lang="en-US" sz="1400" dirty="0"/>
          </a:p>
        </p:txBody>
      </p:sp>
      <p:sp>
        <p:nvSpPr>
          <p:cNvPr id="15" name="Text 11"/>
          <p:cNvSpPr/>
          <p:nvPr/>
        </p:nvSpPr>
        <p:spPr>
          <a:xfrm>
            <a:off x="3694714" y="2642462"/>
            <a:ext cx="4892018" cy="215444"/>
          </a:xfrm>
          <a:prstGeom prst="rect">
            <a:avLst/>
          </a:prstGeom>
          <a:noFill/>
          <a:ln/>
        </p:spPr>
        <p:txBody>
          <a:bodyPr wrap="square" lIns="0" tIns="0" rIns="0" bIns="0" rtlCol="0" anchor="t">
            <a:spAutoFit/>
          </a:bodyPr>
          <a:lstStyle/>
          <a:p>
            <a:pPr marL="0" indent="0" algn="l">
              <a:buNone/>
            </a:pPr>
            <a:r>
              <a:rPr lang="en-US" sz="1400" b="1" smtClean="0">
                <a:solidFill>
                  <a:srgbClr val="F47C17"/>
                </a:solidFill>
                <a:latin typeface="Times New Roman" pitchFamily="34" charset="0"/>
                <a:ea typeface="Times New Roman" pitchFamily="34" charset="-122"/>
                <a:cs typeface="Times New Roman" pitchFamily="34" charset="-120"/>
              </a:rPr>
              <a:t>2° OBJECTIF </a:t>
            </a:r>
            <a:r>
              <a:rPr lang="en-US" sz="1400" b="1" dirty="0">
                <a:solidFill>
                  <a:srgbClr val="F47C17"/>
                </a:solidFill>
                <a:latin typeface="Times New Roman" pitchFamily="34" charset="0"/>
                <a:ea typeface="Times New Roman" pitchFamily="34" charset="-122"/>
                <a:cs typeface="Times New Roman" pitchFamily="34" charset="-120"/>
              </a:rPr>
              <a:t>SPÉCIFIQUE 2</a:t>
            </a:r>
            <a:endParaRPr lang="en-US" sz="1400" dirty="0"/>
          </a:p>
        </p:txBody>
      </p:sp>
      <p:sp>
        <p:nvSpPr>
          <p:cNvPr id="16" name="Text 12"/>
          <p:cNvSpPr/>
          <p:nvPr/>
        </p:nvSpPr>
        <p:spPr>
          <a:xfrm>
            <a:off x="3694714" y="2888921"/>
            <a:ext cx="4892018" cy="445703"/>
          </a:xfrm>
          <a:prstGeom prst="rect">
            <a:avLst/>
          </a:prstGeom>
          <a:noFill/>
          <a:ln/>
        </p:spPr>
        <p:txBody>
          <a:bodyPr wrap="square" lIns="0" tIns="0" rIns="0" bIns="0" rtlCol="0" anchor="t">
            <a:spAutoFit/>
          </a:bodyPr>
          <a:lstStyle/>
          <a:p>
            <a:pPr marL="0" indent="0" algn="l">
              <a:lnSpc>
                <a:spcPct val="104000"/>
              </a:lnSpc>
              <a:buNone/>
            </a:pPr>
            <a:r>
              <a:rPr lang="en-US" sz="1400" dirty="0">
                <a:solidFill>
                  <a:srgbClr val="000000"/>
                </a:solidFill>
                <a:latin typeface="Times New Roman" pitchFamily="34" charset="0"/>
                <a:ea typeface="Times New Roman" pitchFamily="34" charset="-122"/>
                <a:cs typeface="Times New Roman" pitchFamily="34" charset="-120"/>
              </a:rPr>
              <a:t>Automatiser la gestion de l’affectation des agents de sécurité aux locaux de l’UASZ.</a:t>
            </a:r>
            <a:endParaRPr lang="en-US" sz="1400" dirty="0"/>
          </a:p>
        </p:txBody>
      </p:sp>
      <p:sp>
        <p:nvSpPr>
          <p:cNvPr id="17" name="Text 13"/>
          <p:cNvSpPr/>
          <p:nvPr/>
        </p:nvSpPr>
        <p:spPr>
          <a:xfrm>
            <a:off x="3837589" y="3406062"/>
            <a:ext cx="2030684"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des affectations.</a:t>
            </a:r>
            <a:endParaRPr lang="en-US" sz="1400" dirty="0"/>
          </a:p>
        </p:txBody>
      </p:sp>
      <p:sp>
        <p:nvSpPr>
          <p:cNvPr id="18" name="Text 14"/>
          <p:cNvSpPr/>
          <p:nvPr/>
        </p:nvSpPr>
        <p:spPr>
          <a:xfrm>
            <a:off x="3837589" y="3661339"/>
            <a:ext cx="1884811"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des présences.</a:t>
            </a:r>
            <a:endParaRPr lang="en-US" sz="1400" dirty="0"/>
          </a:p>
        </p:txBody>
      </p:sp>
      <p:sp>
        <p:nvSpPr>
          <p:cNvPr id="19" name="Text 15"/>
          <p:cNvSpPr/>
          <p:nvPr/>
        </p:nvSpPr>
        <p:spPr>
          <a:xfrm>
            <a:off x="3837589" y="3916617"/>
            <a:ext cx="1891223"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des plannings.</a:t>
            </a:r>
            <a:endParaRPr lang="en-US" sz="1400" dirty="0"/>
          </a:p>
        </p:txBody>
      </p:sp>
      <p:sp>
        <p:nvSpPr>
          <p:cNvPr id="20" name="Text 16"/>
          <p:cNvSpPr/>
          <p:nvPr/>
        </p:nvSpPr>
        <p:spPr>
          <a:xfrm>
            <a:off x="3837589" y="4171894"/>
            <a:ext cx="1831912"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des incidents.</a:t>
            </a:r>
            <a:endParaRPr lang="en-US" sz="1400" dirty="0"/>
          </a:p>
        </p:txBody>
      </p:sp>
      <p:sp>
        <p:nvSpPr>
          <p:cNvPr id="21" name="Text 17"/>
          <p:cNvSpPr/>
          <p:nvPr/>
        </p:nvSpPr>
        <p:spPr>
          <a:xfrm>
            <a:off x="3837589" y="4427172"/>
            <a:ext cx="1912062"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Gestion des demandes.</a:t>
            </a:r>
            <a:endParaRPr lang="en-US" sz="1400" dirty="0"/>
          </a:p>
        </p:txBody>
      </p:sp>
      <p:sp>
        <p:nvSpPr>
          <p:cNvPr id="22" name="Text 18"/>
          <p:cNvSpPr/>
          <p:nvPr/>
        </p:nvSpPr>
        <p:spPr>
          <a:xfrm>
            <a:off x="3837589" y="4682449"/>
            <a:ext cx="3297056" cy="236988"/>
          </a:xfrm>
          <a:prstGeom prst="rect">
            <a:avLst/>
          </a:prstGeom>
          <a:noFill/>
          <a:ln/>
        </p:spPr>
        <p:txBody>
          <a:bodyPr wrap="none" lIns="42545" tIns="0" rIns="0" bIns="0" rtlCol="0" anchor="t">
            <a:spAutoFit/>
          </a:bodyPr>
          <a:lstStyle/>
          <a:p>
            <a:pPr marL="127000" indent="-127000" algn="l">
              <a:lnSpc>
                <a:spcPct val="110400"/>
              </a:lnSpc>
              <a:buSzPct val="100000"/>
              <a:buChar char="•"/>
            </a:pPr>
            <a:r>
              <a:rPr lang="en-US" sz="1400" b="1" dirty="0">
                <a:solidFill>
                  <a:srgbClr val="1F2D6B"/>
                </a:solidFill>
                <a:latin typeface="Times New Roman" pitchFamily="34" charset="0"/>
                <a:ea typeface="Times New Roman" pitchFamily="34" charset="-122"/>
                <a:cs typeface="Times New Roman" pitchFamily="34" charset="-120"/>
              </a:rPr>
              <a:t>Consultation des rapports et statistiques.</a:t>
            </a:r>
            <a:endParaRPr lang="en-US" sz="1400" dirty="0"/>
          </a:p>
        </p:txBody>
      </p:sp>
      <p:sp>
        <p:nvSpPr>
          <p:cNvPr id="24" name="Text 20"/>
          <p:cNvSpPr/>
          <p:nvPr/>
        </p:nvSpPr>
        <p:spPr>
          <a:xfrm>
            <a:off x="3694714" y="4909977"/>
            <a:ext cx="2396003" cy="404470"/>
          </a:xfrm>
          <a:prstGeom prst="rect">
            <a:avLst/>
          </a:prstGeom>
          <a:noFill/>
          <a:ln/>
        </p:spPr>
        <p:txBody>
          <a:bodyPr wrap="square" lIns="51054" tIns="93599" rIns="51054" bIns="93599" rtlCol="0" anchor="t">
            <a:spAutoFit/>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PERSONNEL</a:t>
            </a:r>
            <a:endParaRPr lang="en-US" sz="1400" dirty="0"/>
          </a:p>
        </p:txBody>
      </p:sp>
      <p:sp>
        <p:nvSpPr>
          <p:cNvPr id="26" name="Text 22"/>
          <p:cNvSpPr/>
          <p:nvPr/>
        </p:nvSpPr>
        <p:spPr>
          <a:xfrm>
            <a:off x="6190729" y="4887698"/>
            <a:ext cx="2396003" cy="404470"/>
          </a:xfrm>
          <a:prstGeom prst="rect">
            <a:avLst/>
          </a:prstGeom>
          <a:noFill/>
          <a:ln/>
        </p:spPr>
        <p:txBody>
          <a:bodyPr wrap="square" lIns="51054" tIns="93599" rIns="51054" bIns="93599" rtlCol="0" anchor="t">
            <a:spAutoFit/>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AFFECTATION</a:t>
            </a:r>
            <a:endParaRPr lang="en-US" sz="1400" dirty="0"/>
          </a:p>
        </p:txBody>
      </p:sp>
      <p:sp>
        <p:nvSpPr>
          <p:cNvPr id="27" name="Rectangle 26"/>
          <p:cNvSpPr/>
          <p:nvPr/>
        </p:nvSpPr>
        <p:spPr>
          <a:xfrm>
            <a:off x="7128567" y="4858934"/>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6/21</a:t>
            </a:r>
            <a:endParaRPr lang="fr-FR" sz="160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23875" y="-69574"/>
            <a:ext cx="7427429" cy="923330"/>
          </a:xfrm>
          <a:prstGeom prst="rect">
            <a:avLst/>
          </a:prstGeom>
        </p:spPr>
        <p:txBody>
          <a:bodyPr wrap="square">
            <a:spAutoFit/>
          </a:bodyPr>
          <a:lstStyle/>
          <a:p>
            <a:pPr marL="285750" lvl="0" indent="-285750">
              <a:buFont typeface="Wingdings" panose="05000000000000000000" pitchFamily="2" charset="2"/>
              <a:buChar char="Ø"/>
            </a:pPr>
            <a:r>
              <a:rPr lang="fr-FR" b="1" smtClean="0">
                <a:solidFill>
                  <a:schemeClr val="accent5"/>
                </a:solidFill>
              </a:rPr>
              <a:t>Objectif spécifique 1 : Automatiser la gestion du personnel de sécurité</a:t>
            </a:r>
          </a:p>
          <a:p>
            <a:endParaRPr lang="en-US" smtClean="0">
              <a:solidFill>
                <a:schemeClr val="accent5"/>
              </a:solidFill>
            </a:endParaRPr>
          </a:p>
          <a:p>
            <a:endParaRPr lang="en-US" dirty="0">
              <a:solidFill>
                <a:schemeClr val="accent5"/>
              </a:solidFill>
            </a:endParaRPr>
          </a:p>
        </p:txBody>
      </p:sp>
      <p:sp>
        <p:nvSpPr>
          <p:cNvPr id="12" name="Rectangle 11"/>
          <p:cNvSpPr/>
          <p:nvPr/>
        </p:nvSpPr>
        <p:spPr>
          <a:xfrm>
            <a:off x="337929" y="370737"/>
            <a:ext cx="8537714" cy="523220"/>
          </a:xfrm>
          <a:prstGeom prst="rect">
            <a:avLst/>
          </a:prstGeom>
        </p:spPr>
        <p:txBody>
          <a:bodyPr wrap="square">
            <a:spAutoFit/>
          </a:bodyPr>
          <a:lstStyle/>
          <a:p>
            <a:r>
              <a:rPr lang="fr-FR" sz="1400">
                <a:latin typeface="Montserrat ExtraBold"/>
              </a:rPr>
              <a:t>Cette première partie présente les fonctionnalités liées à la gestion du personnel de </a:t>
            </a:r>
            <a:r>
              <a:rPr lang="fr-FR" sz="1400" smtClean="0">
                <a:latin typeface="Montserrat ExtraBold"/>
              </a:rPr>
              <a:t>sécurité, il offfre trois sous fonctionnalite.</a:t>
            </a:r>
            <a:endParaRPr lang="fr-FR" sz="1400">
              <a:latin typeface="Montserrat ExtraBold"/>
            </a:endParaRPr>
          </a:p>
        </p:txBody>
      </p:sp>
      <p:graphicFrame>
        <p:nvGraphicFramePr>
          <p:cNvPr id="15" name="Tableau 14"/>
          <p:cNvGraphicFramePr>
            <a:graphicFrameLocks noGrp="1"/>
          </p:cNvGraphicFramePr>
          <p:nvPr>
            <p:extLst>
              <p:ext uri="{D42A27DB-BD31-4B8C-83A1-F6EECF244321}">
                <p14:modId xmlns:p14="http://schemas.microsoft.com/office/powerpoint/2010/main" val="1288497705"/>
              </p:ext>
            </p:extLst>
          </p:nvPr>
        </p:nvGraphicFramePr>
        <p:xfrm>
          <a:off x="647700" y="1024487"/>
          <a:ext cx="7915275" cy="3890232"/>
        </p:xfrm>
        <a:graphic>
          <a:graphicData uri="http://schemas.openxmlformats.org/drawingml/2006/table">
            <a:tbl>
              <a:tblPr firstRow="1" firstCol="1" bandRow="1">
                <a:tableStyleId>{5C22544A-7EE6-4342-B048-85BDC9FD1C3A}</a:tableStyleId>
              </a:tblPr>
              <a:tblGrid>
                <a:gridCol w="2076800">
                  <a:extLst>
                    <a:ext uri="{9D8B030D-6E8A-4147-A177-3AD203B41FA5}">
                      <a16:colId xmlns:a16="http://schemas.microsoft.com/office/drawing/2014/main" val="3021277245"/>
                    </a:ext>
                  </a:extLst>
                </a:gridCol>
                <a:gridCol w="2116924">
                  <a:extLst>
                    <a:ext uri="{9D8B030D-6E8A-4147-A177-3AD203B41FA5}">
                      <a16:colId xmlns:a16="http://schemas.microsoft.com/office/drawing/2014/main" val="2553477490"/>
                    </a:ext>
                  </a:extLst>
                </a:gridCol>
                <a:gridCol w="3595003">
                  <a:extLst>
                    <a:ext uri="{9D8B030D-6E8A-4147-A177-3AD203B41FA5}">
                      <a16:colId xmlns:a16="http://schemas.microsoft.com/office/drawing/2014/main" val="3935633501"/>
                    </a:ext>
                  </a:extLst>
                </a:gridCol>
                <a:gridCol w="126548">
                  <a:extLst>
                    <a:ext uri="{9D8B030D-6E8A-4147-A177-3AD203B41FA5}">
                      <a16:colId xmlns:a16="http://schemas.microsoft.com/office/drawing/2014/main" val="3588910174"/>
                    </a:ext>
                  </a:extLst>
                </a:gridCol>
              </a:tblGrid>
              <a:tr h="218291">
                <a:tc>
                  <a:txBody>
                    <a:bodyPr/>
                    <a:lstStyle/>
                    <a:p>
                      <a:pPr algn="just">
                        <a:lnSpc>
                          <a:spcPct val="150000"/>
                        </a:lnSpc>
                        <a:spcAft>
                          <a:spcPts val="0"/>
                        </a:spcAft>
                      </a:pPr>
                      <a:r>
                        <a:rPr lang="fr-FR" sz="1400">
                          <a:effectLst/>
                        </a:rPr>
                        <a:t>Sous-fonctionnalité</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400">
                          <a:effectLst/>
                        </a:rPr>
                        <a:t>Profils concernés</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400">
                          <a:effectLst/>
                        </a:rPr>
                        <a:t>Données manipulées</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800">
                          <a:effectLst/>
                        </a:rPr>
                        <a:t> </a:t>
                      </a:r>
                      <a:endParaRPr lang="fr-FR" sz="7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extLst>
                  <a:ext uri="{0D108BD9-81ED-4DB2-BD59-A6C34878D82A}">
                    <a16:rowId xmlns:a16="http://schemas.microsoft.com/office/drawing/2014/main" val="595717272"/>
                  </a:ext>
                </a:extLst>
              </a:tr>
              <a:tr h="1229688">
                <a:tc>
                  <a:txBody>
                    <a:bodyPr/>
                    <a:lstStyle/>
                    <a:p>
                      <a:pPr algn="just">
                        <a:lnSpc>
                          <a:spcPct val="150000"/>
                        </a:lnSpc>
                        <a:spcAft>
                          <a:spcPts val="0"/>
                        </a:spcAft>
                      </a:pPr>
                      <a:r>
                        <a:rPr lang="fr-FR" sz="1200">
                          <a:effectLst/>
                        </a:rPr>
                        <a:t>Gestion des informations des agents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200">
                          <a:effectLst/>
                        </a:rPr>
                        <a:t>Administrateur</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200">
                          <a:effectLst/>
                        </a:rPr>
                        <a:t>Matricule, nom, prénom, téléphone, adresse, poste, grade, statut, date de recrutement, statut de paiement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800">
                          <a:effectLst/>
                        </a:rPr>
                        <a:t> </a:t>
                      </a:r>
                      <a:endParaRPr lang="fr-FR" sz="7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extLst>
                  <a:ext uri="{0D108BD9-81ED-4DB2-BD59-A6C34878D82A}">
                    <a16:rowId xmlns:a16="http://schemas.microsoft.com/office/drawing/2014/main" val="174713079"/>
                  </a:ext>
                </a:extLst>
              </a:tr>
              <a:tr h="1110816">
                <a:tc>
                  <a:txBody>
                    <a:bodyPr/>
                    <a:lstStyle/>
                    <a:p>
                      <a:pPr algn="just">
                        <a:lnSpc>
                          <a:spcPct val="150000"/>
                        </a:lnSpc>
                        <a:spcAft>
                          <a:spcPts val="0"/>
                        </a:spcAft>
                      </a:pPr>
                      <a:r>
                        <a:rPr lang="fr-FR" sz="1200">
                          <a:effectLst/>
                        </a:rPr>
                        <a:t>Gestion du recrutement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200">
                          <a:effectLst/>
                        </a:rPr>
                        <a:t>Administrateur</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200">
                          <a:effectLst/>
                        </a:rPr>
                        <a:t>Numéro de candidature, nom, prénom, téléphone, diplôme, CV, poste demandé, date de candidature, résultat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800">
                          <a:effectLst/>
                        </a:rPr>
                        <a:t> </a:t>
                      </a:r>
                      <a:endParaRPr lang="fr-FR" sz="7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extLst>
                  <a:ext uri="{0D108BD9-81ED-4DB2-BD59-A6C34878D82A}">
                    <a16:rowId xmlns:a16="http://schemas.microsoft.com/office/drawing/2014/main" val="3379389769"/>
                  </a:ext>
                </a:extLst>
              </a:tr>
              <a:tr h="1229688">
                <a:tc>
                  <a:txBody>
                    <a:bodyPr/>
                    <a:lstStyle/>
                    <a:p>
                      <a:pPr algn="just">
                        <a:lnSpc>
                          <a:spcPct val="150000"/>
                        </a:lnSpc>
                        <a:spcAft>
                          <a:spcPts val="0"/>
                        </a:spcAft>
                      </a:pPr>
                      <a:r>
                        <a:rPr lang="fr-FR" sz="1200">
                          <a:effectLst/>
                        </a:rPr>
                        <a:t>Gestion de la carrière du personnel</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200">
                          <a:effectLst/>
                        </a:rPr>
                        <a:t>Administrateur</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1200">
                          <a:effectLst/>
                        </a:rPr>
                        <a:t>Agent, grade, promotion, affectation, formation, sanctions, récompenses, historique de carrière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tc>
                  <a:txBody>
                    <a:bodyPr/>
                    <a:lstStyle/>
                    <a:p>
                      <a:pPr algn="just">
                        <a:lnSpc>
                          <a:spcPct val="150000"/>
                        </a:lnSpc>
                        <a:spcAft>
                          <a:spcPts val="0"/>
                        </a:spcAft>
                      </a:pPr>
                      <a:r>
                        <a:rPr lang="fr-FR" sz="800">
                          <a:effectLst/>
                        </a:rPr>
                        <a:t> </a:t>
                      </a:r>
                      <a:endParaRPr lang="fr-FR" sz="700">
                        <a:effectLst/>
                        <a:latin typeface="Calibri" panose="020F0502020204030204" pitchFamily="34" charset="0"/>
                        <a:ea typeface="Calibri" panose="020F0502020204030204" pitchFamily="34" charset="0"/>
                        <a:cs typeface="Times New Roman" panose="02020603050405020304" pitchFamily="18" charset="0"/>
                      </a:endParaRPr>
                    </a:p>
                  </a:txBody>
                  <a:tcPr marL="42925" marR="42925" marT="0" marB="0"/>
                </a:tc>
                <a:extLst>
                  <a:ext uri="{0D108BD9-81ED-4DB2-BD59-A6C34878D82A}">
                    <a16:rowId xmlns:a16="http://schemas.microsoft.com/office/drawing/2014/main" val="4224726110"/>
                  </a:ext>
                </a:extLst>
              </a:tr>
            </a:tbl>
          </a:graphicData>
        </a:graphic>
      </p:graphicFrame>
      <p:sp>
        <p:nvSpPr>
          <p:cNvPr id="16" name="Rectangle 1"/>
          <p:cNvSpPr>
            <a:spLocks noChangeArrowheads="1"/>
          </p:cNvSpPr>
          <p:nvPr/>
        </p:nvSpPr>
        <p:spPr bwMode="auto">
          <a:xfrm>
            <a:off x="2771775" y="1173163"/>
            <a:ext cx="553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25392"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smtClean="0">
              <a:ln>
                <a:noFill/>
              </a:ln>
              <a:solidFill>
                <a:schemeClr val="tx1"/>
              </a:solidFill>
              <a:effectLst/>
              <a:latin typeface="Arial" panose="020B0604020202020204" pitchFamily="34" charset="0"/>
            </a:endParaRPr>
          </a:p>
        </p:txBody>
      </p:sp>
      <p:sp>
        <p:nvSpPr>
          <p:cNvPr id="2" name="Rectangle 1"/>
          <p:cNvSpPr/>
          <p:nvPr/>
        </p:nvSpPr>
        <p:spPr>
          <a:xfrm>
            <a:off x="6854144" y="4860583"/>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7/21</a:t>
            </a:r>
            <a:endParaRPr lang="fr-FR" sz="1600"/>
          </a:p>
        </p:txBody>
      </p:sp>
    </p:spTree>
    <p:extLst>
      <p:ext uri="{BB962C8B-B14F-4D97-AF65-F5344CB8AC3E}">
        <p14:creationId xmlns:p14="http://schemas.microsoft.com/office/powerpoint/2010/main" val="1382028847"/>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3" name="Rectangle 32"/>
          <p:cNvSpPr/>
          <p:nvPr/>
        </p:nvSpPr>
        <p:spPr>
          <a:xfrm>
            <a:off x="409575" y="0"/>
            <a:ext cx="8667750" cy="878895"/>
          </a:xfrm>
          <a:prstGeom prst="rect">
            <a:avLst/>
          </a:prstGeom>
        </p:spPr>
        <p:txBody>
          <a:bodyPr wrap="square">
            <a:spAutoFit/>
          </a:bodyPr>
          <a:lstStyle/>
          <a:p>
            <a:pPr marL="285750" lvl="0" indent="-285750" algn="just">
              <a:lnSpc>
                <a:spcPct val="150000"/>
              </a:lnSpc>
              <a:spcBef>
                <a:spcPts val="200"/>
              </a:spcBef>
              <a:spcAft>
                <a:spcPts val="0"/>
              </a:spcAft>
              <a:buFont typeface="Wingdings" panose="05000000000000000000" pitchFamily="2" charset="2"/>
              <a:buChar char="Ø"/>
            </a:pPr>
            <a:r>
              <a:rPr lang="fr-FR" b="1">
                <a:solidFill>
                  <a:schemeClr val="accent5"/>
                </a:solidFill>
                <a:latin typeface="Times New Roman" panose="02020603050405020304" pitchFamily="18" charset="0"/>
                <a:ea typeface="Times New Roman" panose="02020603050405020304" pitchFamily="18" charset="0"/>
                <a:cs typeface="Times New Roman" panose="02020603050405020304" pitchFamily="18" charset="0"/>
              </a:rPr>
              <a:t>Objectif spécifique 2 : Automatiser la gestion de l'affectation des agents de sécurité aux locaux de l'UASZ</a:t>
            </a:r>
            <a:endParaRPr lang="fr-FR" b="1">
              <a:solidFill>
                <a:schemeClr val="accent5"/>
              </a:solidFill>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4" name="Rectangle 33"/>
          <p:cNvSpPr/>
          <p:nvPr/>
        </p:nvSpPr>
        <p:spPr>
          <a:xfrm>
            <a:off x="209550" y="878895"/>
            <a:ext cx="8934450" cy="523220"/>
          </a:xfrm>
          <a:prstGeom prst="rect">
            <a:avLst/>
          </a:prstGeom>
        </p:spPr>
        <p:txBody>
          <a:bodyPr wrap="square">
            <a:spAutoFit/>
          </a:bodyPr>
          <a:lstStyle/>
          <a:p>
            <a:r>
              <a:rPr lang="fr-FR" sz="1400">
                <a:latin typeface="Times New Roman" panose="02020603050405020304" pitchFamily="18" charset="0"/>
                <a:cs typeface="Times New Roman" panose="02020603050405020304" pitchFamily="18" charset="0"/>
              </a:rPr>
              <a:t>Cette seconde partie décrit les fonctionnalités permettant de gérer les affectations, les présences, les incidents et les </a:t>
            </a:r>
            <a:r>
              <a:rPr lang="fr-FR" sz="1400" smtClean="0">
                <a:latin typeface="Times New Roman" panose="02020603050405020304" pitchFamily="18" charset="0"/>
                <a:cs typeface="Times New Roman" panose="02020603050405020304" pitchFamily="18" charset="0"/>
              </a:rPr>
              <a:t>demandes, il offre six sous fonctionnalite</a:t>
            </a:r>
            <a:endParaRPr lang="fr-FR" sz="1400">
              <a:latin typeface="Times New Roman" panose="02020603050405020304" pitchFamily="18" charset="0"/>
              <a:cs typeface="Times New Roman" panose="02020603050405020304" pitchFamily="18" charset="0"/>
            </a:endParaRPr>
          </a:p>
        </p:txBody>
      </p:sp>
      <p:graphicFrame>
        <p:nvGraphicFramePr>
          <p:cNvPr id="37" name="Tableau 36"/>
          <p:cNvGraphicFramePr>
            <a:graphicFrameLocks noGrp="1"/>
          </p:cNvGraphicFramePr>
          <p:nvPr>
            <p:extLst>
              <p:ext uri="{D42A27DB-BD31-4B8C-83A1-F6EECF244321}">
                <p14:modId xmlns:p14="http://schemas.microsoft.com/office/powerpoint/2010/main" val="1908356265"/>
              </p:ext>
            </p:extLst>
          </p:nvPr>
        </p:nvGraphicFramePr>
        <p:xfrm>
          <a:off x="323849" y="1525226"/>
          <a:ext cx="8229600" cy="3552596"/>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937027100"/>
                    </a:ext>
                  </a:extLst>
                </a:gridCol>
                <a:gridCol w="2743200">
                  <a:extLst>
                    <a:ext uri="{9D8B030D-6E8A-4147-A177-3AD203B41FA5}">
                      <a16:colId xmlns:a16="http://schemas.microsoft.com/office/drawing/2014/main" val="777605521"/>
                    </a:ext>
                  </a:extLst>
                </a:gridCol>
                <a:gridCol w="2743200">
                  <a:extLst>
                    <a:ext uri="{9D8B030D-6E8A-4147-A177-3AD203B41FA5}">
                      <a16:colId xmlns:a16="http://schemas.microsoft.com/office/drawing/2014/main" val="2638102795"/>
                    </a:ext>
                  </a:extLst>
                </a:gridCol>
              </a:tblGrid>
              <a:tr h="273195">
                <a:tc>
                  <a:txBody>
                    <a:bodyPr/>
                    <a:lstStyle/>
                    <a:p>
                      <a:pPr algn="just">
                        <a:lnSpc>
                          <a:spcPct val="150000"/>
                        </a:lnSpc>
                        <a:spcAft>
                          <a:spcPts val="0"/>
                        </a:spcAft>
                      </a:pPr>
                      <a:r>
                        <a:rPr lang="fr-FR" sz="1400">
                          <a:effectLst/>
                        </a:rPr>
                        <a:t>Sous-fonctionnalité</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400">
                          <a:effectLst/>
                        </a:rPr>
                        <a:t>Profils concernés</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400">
                          <a:effectLst/>
                        </a:rPr>
                        <a:t>Données manipulées</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466165471"/>
                  </a:ext>
                </a:extLst>
              </a:tr>
              <a:tr h="582348">
                <a:tc>
                  <a:txBody>
                    <a:bodyPr/>
                    <a:lstStyle/>
                    <a:p>
                      <a:pPr algn="just">
                        <a:lnSpc>
                          <a:spcPct val="150000"/>
                        </a:lnSpc>
                        <a:spcAft>
                          <a:spcPts val="0"/>
                        </a:spcAft>
                      </a:pPr>
                      <a:r>
                        <a:rPr lang="fr-FR" sz="1200">
                          <a:effectLst/>
                        </a:rPr>
                        <a:t>Gestion des affectations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Administrateur, Chef de sécurité</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Agent, secteur, bâtiment, date, heure de début, heure de fin, état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2915516862"/>
                  </a:ext>
                </a:extLst>
              </a:tr>
              <a:tr h="495365">
                <a:tc>
                  <a:txBody>
                    <a:bodyPr/>
                    <a:lstStyle/>
                    <a:p>
                      <a:pPr algn="just">
                        <a:lnSpc>
                          <a:spcPct val="150000"/>
                        </a:lnSpc>
                        <a:spcAft>
                          <a:spcPts val="0"/>
                        </a:spcAft>
                      </a:pPr>
                      <a:r>
                        <a:rPr lang="fr-FR" sz="1200">
                          <a:effectLst/>
                        </a:rPr>
                        <a:t>Gestion des présences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Chef de sécurité, Agent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Date, heure d'arrivée, heure de départ, statut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2592593776"/>
                  </a:ext>
                </a:extLst>
              </a:tr>
              <a:tr h="495365">
                <a:tc>
                  <a:txBody>
                    <a:bodyPr/>
                    <a:lstStyle/>
                    <a:p>
                      <a:pPr algn="just">
                        <a:lnSpc>
                          <a:spcPct val="150000"/>
                        </a:lnSpc>
                        <a:spcAft>
                          <a:spcPts val="0"/>
                        </a:spcAft>
                      </a:pPr>
                      <a:r>
                        <a:rPr lang="fr-FR" sz="1200">
                          <a:effectLst/>
                        </a:rPr>
                        <a:t>Gestion des plannings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Chef de sécurité, Agent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Jour, horaires, secteur, mission, agent concerné</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1854146968"/>
                  </a:ext>
                </a:extLst>
              </a:tr>
              <a:tr h="582348">
                <a:tc>
                  <a:txBody>
                    <a:bodyPr/>
                    <a:lstStyle/>
                    <a:p>
                      <a:pPr algn="just">
                        <a:lnSpc>
                          <a:spcPct val="150000"/>
                        </a:lnSpc>
                        <a:spcAft>
                          <a:spcPts val="0"/>
                        </a:spcAft>
                      </a:pPr>
                      <a:r>
                        <a:rPr lang="fr-FR" sz="1200">
                          <a:effectLst/>
                        </a:rPr>
                        <a:t>Gestion des incidents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smtClean="0">
                          <a:effectLst/>
                        </a:rPr>
                        <a:t>Chef </a:t>
                      </a:r>
                      <a:r>
                        <a:rPr lang="fr-FR" sz="1200">
                          <a:effectLst/>
                        </a:rPr>
                        <a:t>de </a:t>
                      </a:r>
                      <a:r>
                        <a:rPr lang="fr-FR" sz="1200" smtClean="0">
                          <a:effectLst/>
                        </a:rPr>
                        <a:t>sécurité, Agent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Numéro, date, lieu, description, gravité, statut, agent déclarant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3137869928"/>
                  </a:ext>
                </a:extLst>
              </a:tr>
              <a:tr h="582348">
                <a:tc>
                  <a:txBody>
                    <a:bodyPr/>
                    <a:lstStyle/>
                    <a:p>
                      <a:pPr algn="just">
                        <a:lnSpc>
                          <a:spcPct val="150000"/>
                        </a:lnSpc>
                        <a:spcAft>
                          <a:spcPts val="0"/>
                        </a:spcAft>
                      </a:pPr>
                      <a:r>
                        <a:rPr lang="fr-FR" sz="1200">
                          <a:effectLst/>
                        </a:rPr>
                        <a:t>Gestion des demandes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Enseignant, Chef de sécurité</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Numéro de demande, demandeur, type, salle, date, heure, statut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3737690719"/>
                  </a:ext>
                </a:extLst>
              </a:tr>
              <a:tr h="388232">
                <a:tc>
                  <a:txBody>
                    <a:bodyPr/>
                    <a:lstStyle/>
                    <a:p>
                      <a:pPr algn="just">
                        <a:lnSpc>
                          <a:spcPct val="150000"/>
                        </a:lnSpc>
                        <a:spcAft>
                          <a:spcPts val="0"/>
                        </a:spcAft>
                      </a:pPr>
                      <a:r>
                        <a:rPr lang="fr-FR" sz="1200">
                          <a:effectLst/>
                        </a:rPr>
                        <a:t>Consultation des rapports et statistiques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Administrateur, Responsable domaine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tc>
                  <a:txBody>
                    <a:bodyPr/>
                    <a:lstStyle/>
                    <a:p>
                      <a:pPr algn="just">
                        <a:lnSpc>
                          <a:spcPct val="150000"/>
                        </a:lnSpc>
                        <a:spcAft>
                          <a:spcPts val="0"/>
                        </a:spcAft>
                      </a:pPr>
                      <a:r>
                        <a:rPr lang="fr-FR" sz="1200">
                          <a:effectLst/>
                        </a:rPr>
                        <a:t>Rapports, statistiques, période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50974" marR="50974" marT="0" marB="0"/>
                </a:tc>
                <a:extLst>
                  <a:ext uri="{0D108BD9-81ED-4DB2-BD59-A6C34878D82A}">
                    <a16:rowId xmlns:a16="http://schemas.microsoft.com/office/drawing/2014/main" val="3461991976"/>
                  </a:ext>
                </a:extLst>
              </a:tr>
            </a:tbl>
          </a:graphicData>
        </a:graphic>
      </p:graphicFrame>
      <p:sp>
        <p:nvSpPr>
          <p:cNvPr id="38" name="Rectangle 2"/>
          <p:cNvSpPr>
            <a:spLocks noChangeArrowheads="1"/>
          </p:cNvSpPr>
          <p:nvPr/>
        </p:nvSpPr>
        <p:spPr bwMode="auto">
          <a:xfrm>
            <a:off x="0" y="1525702"/>
            <a:ext cx="727769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25392"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smtClean="0">
              <a:ln>
                <a:noFill/>
              </a:ln>
              <a:solidFill>
                <a:schemeClr val="tx1"/>
              </a:solidFill>
              <a:effectLst/>
              <a:latin typeface="Arial" panose="020B0604020202020204" pitchFamily="34" charset="0"/>
            </a:endParaRPr>
          </a:p>
        </p:txBody>
      </p:sp>
      <p:sp>
        <p:nvSpPr>
          <p:cNvPr id="2" name="Rectangle 1"/>
          <p:cNvSpPr/>
          <p:nvPr/>
        </p:nvSpPr>
        <p:spPr>
          <a:xfrm>
            <a:off x="7152992" y="4908545"/>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8/21</a:t>
            </a:r>
            <a:endParaRPr lang="fr-FR" sz="16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2360537" y="-66675"/>
            <a:ext cx="3967753" cy="400110"/>
          </a:xfrm>
          <a:prstGeom prst="rect">
            <a:avLst/>
          </a:prstGeom>
        </p:spPr>
        <p:txBody>
          <a:bodyPr wrap="none">
            <a:spAutoFit/>
          </a:bodyPr>
          <a:lstStyle/>
          <a:p>
            <a:r>
              <a:rPr lang="fr-FR" sz="2000" smtClean="0">
                <a:solidFill>
                  <a:schemeClr val="accent5"/>
                </a:solidFill>
                <a:latin typeface="Times New Roman" panose="02020603050405020304" pitchFamily="18" charset="0"/>
                <a:ea typeface="Calibri" panose="020F0502020204030204" pitchFamily="34" charset="0"/>
              </a:rPr>
              <a:t>VII.  Données </a:t>
            </a:r>
            <a:r>
              <a:rPr lang="fr-FR" sz="2000">
                <a:solidFill>
                  <a:schemeClr val="accent5"/>
                </a:solidFill>
                <a:latin typeface="Times New Roman" panose="02020603050405020304" pitchFamily="18" charset="0"/>
                <a:ea typeface="Calibri" panose="020F0502020204030204" pitchFamily="34" charset="0"/>
              </a:rPr>
              <a:t>manipulées par profil</a:t>
            </a:r>
            <a:endParaRPr lang="fr-FR" sz="2000">
              <a:solidFill>
                <a:schemeClr val="accent5"/>
              </a:solidFill>
            </a:endParaRPr>
          </a:p>
        </p:txBody>
      </p:sp>
      <p:sp>
        <p:nvSpPr>
          <p:cNvPr id="45" name="Rectangle 44"/>
          <p:cNvSpPr/>
          <p:nvPr/>
        </p:nvSpPr>
        <p:spPr>
          <a:xfrm>
            <a:off x="219075" y="333435"/>
            <a:ext cx="9010650" cy="738664"/>
          </a:xfrm>
          <a:prstGeom prst="rect">
            <a:avLst/>
          </a:prstGeom>
        </p:spPr>
        <p:txBody>
          <a:bodyPr wrap="square">
            <a:spAutoFit/>
          </a:bodyPr>
          <a:lstStyle/>
          <a:p>
            <a:r>
              <a:rPr lang="fr-FR" sz="1400">
                <a:latin typeface="Times New Roman" panose="02020603050405020304" pitchFamily="18" charset="0"/>
                <a:ea typeface="Times New Roman" panose="02020603050405020304" pitchFamily="18" charset="0"/>
              </a:rPr>
              <a:t>La plateforme repose sur plusieurs entités représentant les informations qui seront enregistrées dans la base de données. Chaque entité est caractérisée par un ensemble d'attributs permettant d'identifier et de décrire les informations nécessaires au fonctionnement de la plateforme.</a:t>
            </a:r>
          </a:p>
        </p:txBody>
      </p:sp>
      <p:sp>
        <p:nvSpPr>
          <p:cNvPr id="46" name="Rectangle 45"/>
          <p:cNvSpPr/>
          <p:nvPr/>
        </p:nvSpPr>
        <p:spPr>
          <a:xfrm>
            <a:off x="808074" y="1256766"/>
            <a:ext cx="7793666" cy="3886734"/>
          </a:xfrm>
          <a:prstGeom prst="rect">
            <a:avLst/>
          </a:prstGeom>
          <a:blipFill dpi="0" rotWithShape="1">
            <a:blip r:embed="rId3">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p:cNvSpPr/>
          <p:nvPr/>
        </p:nvSpPr>
        <p:spPr>
          <a:xfrm>
            <a:off x="7104659" y="4920576"/>
            <a:ext cx="2039341"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9/21</a:t>
            </a:r>
            <a:endParaRPr lang="fr-FR" sz="1600"/>
          </a:p>
        </p:txBody>
      </p:sp>
    </p:spTree>
    <p:extLst>
      <p:ext uri="{BB962C8B-B14F-4D97-AF65-F5344CB8AC3E}">
        <p14:creationId xmlns:p14="http://schemas.microsoft.com/office/powerpoint/2010/main" val="1558003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895" y="-427614"/>
            <a:ext cx="9144000" cy="5143500"/>
          </a:xfrm>
          <a:prstGeom prst="rect">
            <a:avLst/>
          </a:prstGeom>
        </p:spPr>
      </p:pic>
      <p:sp>
        <p:nvSpPr>
          <p:cNvPr id="3" name="Text 0"/>
          <p:cNvSpPr/>
          <p:nvPr/>
        </p:nvSpPr>
        <p:spPr>
          <a:xfrm>
            <a:off x="513755" y="-3751"/>
            <a:ext cx="8515350" cy="276999"/>
          </a:xfrm>
          <a:prstGeom prst="rect">
            <a:avLst/>
          </a:prstGeom>
          <a:noFill/>
          <a:ln/>
        </p:spPr>
        <p:txBody>
          <a:bodyPr wrap="square" lIns="0" tIns="0" rIns="0" bIns="0" rtlCol="0" anchor="t">
            <a:spAutoFit/>
          </a:bodyPr>
          <a:lstStyle/>
          <a:p>
            <a:r>
              <a:rPr lang="fr-FR" smtClean="0">
                <a:solidFill>
                  <a:schemeClr val="accent5"/>
                </a:solidFill>
                <a:latin typeface="Times New Roman" panose="02020603050405020304" pitchFamily="18" charset="0"/>
                <a:ea typeface="Calibri" panose="020F0502020204030204" pitchFamily="34" charset="0"/>
              </a:rPr>
              <a:t>VIII</a:t>
            </a:r>
            <a:r>
              <a:rPr lang="en-US" b="1" smtClean="0">
                <a:solidFill>
                  <a:schemeClr val="accent5"/>
                </a:solidFill>
                <a:latin typeface="Times New Roman" pitchFamily="34" charset="0"/>
                <a:ea typeface="Times New Roman" pitchFamily="34" charset="-122"/>
                <a:cs typeface="Times New Roman" pitchFamily="34" charset="-120"/>
              </a:rPr>
              <a:t>.  CHOIX </a:t>
            </a:r>
            <a:r>
              <a:rPr lang="en-US" b="1" dirty="0">
                <a:solidFill>
                  <a:schemeClr val="accent5"/>
                </a:solidFill>
                <a:latin typeface="Times New Roman" pitchFamily="34" charset="0"/>
                <a:ea typeface="Times New Roman" pitchFamily="34" charset="-122"/>
                <a:cs typeface="Times New Roman" pitchFamily="34" charset="-120"/>
              </a:rPr>
              <a:t>DES OUTILS</a:t>
            </a:r>
            <a:endParaRPr lang="en-US" dirty="0">
              <a:solidFill>
                <a:schemeClr val="accent5"/>
              </a:solidFill>
            </a:endParaRPr>
          </a:p>
        </p:txBody>
      </p:sp>
      <p:sp>
        <p:nvSpPr>
          <p:cNvPr id="4" name="Shape 1"/>
          <p:cNvSpPr/>
          <p:nvPr/>
        </p:nvSpPr>
        <p:spPr>
          <a:xfrm>
            <a:off x="533400" y="764202"/>
            <a:ext cx="2067111" cy="346360"/>
          </a:xfrm>
          <a:prstGeom prst="rect">
            <a:avLst/>
          </a:prstGeom>
          <a:solidFill>
            <a:srgbClr val="1F2D6B"/>
          </a:solidFill>
          <a:ln w="9144">
            <a:solidFill>
              <a:srgbClr val="FFFFFF"/>
            </a:solidFill>
            <a:prstDash val="solid"/>
          </a:ln>
        </p:spPr>
      </p:sp>
      <p:sp>
        <p:nvSpPr>
          <p:cNvPr id="5" name="Text 2"/>
          <p:cNvSpPr/>
          <p:nvPr/>
        </p:nvSpPr>
        <p:spPr>
          <a:xfrm>
            <a:off x="533400" y="738898"/>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FFFFFF"/>
                </a:solidFill>
                <a:latin typeface="Times New Roman" pitchFamily="34" charset="0"/>
                <a:ea typeface="Times New Roman" pitchFamily="34" charset="-122"/>
                <a:cs typeface="Times New Roman" pitchFamily="34" charset="-120"/>
              </a:rPr>
              <a:t>OUTIL</a:t>
            </a:r>
            <a:endParaRPr lang="en-US" sz="1200" dirty="0"/>
          </a:p>
        </p:txBody>
      </p:sp>
      <p:sp>
        <p:nvSpPr>
          <p:cNvPr id="6" name="Shape 3"/>
          <p:cNvSpPr/>
          <p:nvPr/>
        </p:nvSpPr>
        <p:spPr>
          <a:xfrm>
            <a:off x="2600511" y="764202"/>
            <a:ext cx="2067111" cy="346360"/>
          </a:xfrm>
          <a:prstGeom prst="rect">
            <a:avLst/>
          </a:prstGeom>
          <a:solidFill>
            <a:srgbClr val="1F2D6B"/>
          </a:solidFill>
          <a:ln w="9144">
            <a:solidFill>
              <a:srgbClr val="FFFFFF"/>
            </a:solidFill>
            <a:prstDash val="solid"/>
          </a:ln>
        </p:spPr>
      </p:sp>
      <p:sp>
        <p:nvSpPr>
          <p:cNvPr id="7" name="Text 4"/>
          <p:cNvSpPr/>
          <p:nvPr/>
        </p:nvSpPr>
        <p:spPr>
          <a:xfrm>
            <a:off x="2600511" y="738898"/>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FFFFFF"/>
                </a:solidFill>
                <a:latin typeface="Times New Roman" pitchFamily="34" charset="0"/>
                <a:ea typeface="Times New Roman" pitchFamily="34" charset="-122"/>
                <a:cs typeface="Times New Roman" pitchFamily="34" charset="-120"/>
              </a:rPr>
              <a:t>UTILISATION</a:t>
            </a:r>
            <a:endParaRPr lang="en-US" sz="1200" dirty="0"/>
          </a:p>
        </p:txBody>
      </p:sp>
      <p:sp>
        <p:nvSpPr>
          <p:cNvPr id="8" name="Shape 5"/>
          <p:cNvSpPr/>
          <p:nvPr/>
        </p:nvSpPr>
        <p:spPr>
          <a:xfrm>
            <a:off x="4667622" y="764202"/>
            <a:ext cx="2067223" cy="346360"/>
          </a:xfrm>
          <a:prstGeom prst="rect">
            <a:avLst/>
          </a:prstGeom>
          <a:solidFill>
            <a:srgbClr val="1F2D6B"/>
          </a:solidFill>
          <a:ln w="9144">
            <a:solidFill>
              <a:srgbClr val="FFFFFF"/>
            </a:solidFill>
            <a:prstDash val="solid"/>
          </a:ln>
        </p:spPr>
      </p:sp>
      <p:sp>
        <p:nvSpPr>
          <p:cNvPr id="9" name="Text 6"/>
          <p:cNvSpPr/>
          <p:nvPr/>
        </p:nvSpPr>
        <p:spPr>
          <a:xfrm>
            <a:off x="4667622" y="738898"/>
            <a:ext cx="2067223"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FFFFFF"/>
                </a:solidFill>
                <a:latin typeface="Times New Roman" pitchFamily="34" charset="0"/>
                <a:ea typeface="Times New Roman" pitchFamily="34" charset="-122"/>
                <a:cs typeface="Times New Roman" pitchFamily="34" charset="-120"/>
              </a:rPr>
              <a:t>JUSTIFICATION</a:t>
            </a:r>
            <a:endParaRPr lang="en-US" sz="1200" dirty="0"/>
          </a:p>
        </p:txBody>
      </p:sp>
      <p:sp>
        <p:nvSpPr>
          <p:cNvPr id="10" name="Text 7"/>
          <p:cNvSpPr/>
          <p:nvPr/>
        </p:nvSpPr>
        <p:spPr>
          <a:xfrm>
            <a:off x="533400" y="1137999"/>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1F2D6B"/>
                </a:solidFill>
                <a:latin typeface="Times New Roman" pitchFamily="34" charset="0"/>
                <a:ea typeface="Times New Roman" pitchFamily="34" charset="-122"/>
                <a:cs typeface="Times New Roman" pitchFamily="34" charset="-120"/>
              </a:rPr>
              <a:t>Draw.io</a:t>
            </a:r>
            <a:endParaRPr lang="en-US" sz="1200" dirty="0"/>
          </a:p>
        </p:txBody>
      </p:sp>
      <p:sp>
        <p:nvSpPr>
          <p:cNvPr id="11" name="Text 8"/>
          <p:cNvSpPr/>
          <p:nvPr/>
        </p:nvSpPr>
        <p:spPr>
          <a:xfrm>
            <a:off x="2600511" y="1051213"/>
            <a:ext cx="2067111"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Diagrammes UML et modèles</a:t>
            </a:r>
            <a:endParaRPr lang="en-US" sz="1200" dirty="0"/>
          </a:p>
        </p:txBody>
      </p:sp>
      <p:sp>
        <p:nvSpPr>
          <p:cNvPr id="12" name="Text 9"/>
          <p:cNvSpPr/>
          <p:nvPr/>
        </p:nvSpPr>
        <p:spPr>
          <a:xfrm>
            <a:off x="4667622" y="964426"/>
            <a:ext cx="2067223" cy="744114"/>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Accessible, simple à utiliser et exportable en plusieurs formats.</a:t>
            </a:r>
            <a:endParaRPr lang="en-US" sz="1200" dirty="0"/>
          </a:p>
        </p:txBody>
      </p:sp>
      <p:sp>
        <p:nvSpPr>
          <p:cNvPr id="13" name="Shape 10"/>
          <p:cNvSpPr/>
          <p:nvPr/>
        </p:nvSpPr>
        <p:spPr>
          <a:xfrm>
            <a:off x="533400" y="1569548"/>
            <a:ext cx="6201445" cy="466130"/>
          </a:xfrm>
          <a:prstGeom prst="rect">
            <a:avLst/>
          </a:prstGeom>
          <a:solidFill>
            <a:srgbClr val="E6F0F7"/>
          </a:solidFill>
          <a:ln/>
        </p:spPr>
      </p:sp>
      <p:sp>
        <p:nvSpPr>
          <p:cNvPr id="14" name="Text 11"/>
          <p:cNvSpPr/>
          <p:nvPr/>
        </p:nvSpPr>
        <p:spPr>
          <a:xfrm>
            <a:off x="533400" y="1604129"/>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1F2D6B"/>
                </a:solidFill>
                <a:latin typeface="Times New Roman" pitchFamily="34" charset="0"/>
                <a:ea typeface="Times New Roman" pitchFamily="34" charset="-122"/>
                <a:cs typeface="Times New Roman" pitchFamily="34" charset="-120"/>
              </a:rPr>
              <a:t>Visual Studio Code</a:t>
            </a:r>
            <a:endParaRPr lang="en-US" sz="1200" dirty="0"/>
          </a:p>
        </p:txBody>
      </p:sp>
      <p:sp>
        <p:nvSpPr>
          <p:cNvPr id="15" name="Text 12"/>
          <p:cNvSpPr/>
          <p:nvPr/>
        </p:nvSpPr>
        <p:spPr>
          <a:xfrm>
            <a:off x="2600511" y="1517343"/>
            <a:ext cx="2067111"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Développement HTML, CSS, JavaScript, PHP et SQL</a:t>
            </a:r>
            <a:endParaRPr lang="en-US" sz="1200" dirty="0"/>
          </a:p>
        </p:txBody>
      </p:sp>
      <p:sp>
        <p:nvSpPr>
          <p:cNvPr id="16" name="Text 13"/>
          <p:cNvSpPr/>
          <p:nvPr/>
        </p:nvSpPr>
        <p:spPr>
          <a:xfrm>
            <a:off x="4667622" y="1517343"/>
            <a:ext cx="2067223"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Léger, extensible et adapté à un projet web collaboratif.</a:t>
            </a:r>
            <a:endParaRPr lang="en-US" sz="1200" dirty="0"/>
          </a:p>
        </p:txBody>
      </p:sp>
      <p:sp>
        <p:nvSpPr>
          <p:cNvPr id="17" name="Text 14"/>
          <p:cNvSpPr/>
          <p:nvPr/>
        </p:nvSpPr>
        <p:spPr>
          <a:xfrm>
            <a:off x="533400" y="2070259"/>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1F2D6B"/>
                </a:solidFill>
                <a:latin typeface="Times New Roman" pitchFamily="34" charset="0"/>
                <a:ea typeface="Times New Roman" pitchFamily="34" charset="-122"/>
                <a:cs typeface="Times New Roman" pitchFamily="34" charset="-120"/>
              </a:rPr>
              <a:t>XAMPP</a:t>
            </a:r>
            <a:endParaRPr lang="en-US" sz="1200" dirty="0"/>
          </a:p>
        </p:txBody>
      </p:sp>
      <p:sp>
        <p:nvSpPr>
          <p:cNvPr id="18" name="Text 15"/>
          <p:cNvSpPr/>
          <p:nvPr/>
        </p:nvSpPr>
        <p:spPr>
          <a:xfrm>
            <a:off x="2600511" y="1983473"/>
            <a:ext cx="2067111"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Serveur local de développement</a:t>
            </a:r>
            <a:endParaRPr lang="en-US" sz="1200" dirty="0"/>
          </a:p>
        </p:txBody>
      </p:sp>
      <p:sp>
        <p:nvSpPr>
          <p:cNvPr id="19" name="Text 16"/>
          <p:cNvSpPr/>
          <p:nvPr/>
        </p:nvSpPr>
        <p:spPr>
          <a:xfrm>
            <a:off x="4667622" y="1896686"/>
            <a:ext cx="2067223" cy="744114"/>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Réunit Apache, PHP, MySQL et phpMyAdmin pour les tests locaux.</a:t>
            </a:r>
            <a:endParaRPr lang="en-US" sz="1200" dirty="0"/>
          </a:p>
        </p:txBody>
      </p:sp>
      <p:sp>
        <p:nvSpPr>
          <p:cNvPr id="20" name="Shape 17"/>
          <p:cNvSpPr/>
          <p:nvPr/>
        </p:nvSpPr>
        <p:spPr>
          <a:xfrm>
            <a:off x="533400" y="2501807"/>
            <a:ext cx="6201445" cy="600968"/>
          </a:xfrm>
          <a:prstGeom prst="rect">
            <a:avLst/>
          </a:prstGeom>
          <a:solidFill>
            <a:srgbClr val="E6F0F7"/>
          </a:solidFill>
          <a:ln/>
        </p:spPr>
      </p:sp>
      <p:sp>
        <p:nvSpPr>
          <p:cNvPr id="21" name="Text 18"/>
          <p:cNvSpPr/>
          <p:nvPr/>
        </p:nvSpPr>
        <p:spPr>
          <a:xfrm>
            <a:off x="533400" y="2603807"/>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1F2D6B"/>
                </a:solidFill>
                <a:latin typeface="Times New Roman" pitchFamily="34" charset="0"/>
                <a:ea typeface="Times New Roman" pitchFamily="34" charset="-122"/>
                <a:cs typeface="Times New Roman" pitchFamily="34" charset="-120"/>
              </a:rPr>
              <a:t>MySQL</a:t>
            </a:r>
            <a:endParaRPr lang="en-US" sz="1200" dirty="0"/>
          </a:p>
        </p:txBody>
      </p:sp>
      <p:sp>
        <p:nvSpPr>
          <p:cNvPr id="22" name="Text 19"/>
          <p:cNvSpPr/>
          <p:nvPr/>
        </p:nvSpPr>
        <p:spPr>
          <a:xfrm>
            <a:off x="2600511" y="2517020"/>
            <a:ext cx="2067111"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Stockage et gestion des données</a:t>
            </a:r>
            <a:endParaRPr lang="en-US" sz="1200" dirty="0"/>
          </a:p>
        </p:txBody>
      </p:sp>
      <p:sp>
        <p:nvSpPr>
          <p:cNvPr id="23" name="Text 20"/>
          <p:cNvSpPr/>
          <p:nvPr/>
        </p:nvSpPr>
        <p:spPr>
          <a:xfrm>
            <a:off x="4667622" y="2430234"/>
            <a:ext cx="2067223" cy="744114"/>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Base relationnelle cohérente avec les agents, affectations, présences et incidents.</a:t>
            </a:r>
            <a:endParaRPr lang="en-US" sz="1200" dirty="0"/>
          </a:p>
        </p:txBody>
      </p:sp>
      <p:sp>
        <p:nvSpPr>
          <p:cNvPr id="24" name="Text 21"/>
          <p:cNvSpPr/>
          <p:nvPr/>
        </p:nvSpPr>
        <p:spPr>
          <a:xfrm>
            <a:off x="533400" y="3137356"/>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1F2D6B"/>
                </a:solidFill>
                <a:latin typeface="Times New Roman" pitchFamily="34" charset="0"/>
                <a:ea typeface="Times New Roman" pitchFamily="34" charset="-122"/>
                <a:cs typeface="Times New Roman" pitchFamily="34" charset="-120"/>
              </a:rPr>
              <a:t>Git / GitHub</a:t>
            </a:r>
            <a:endParaRPr lang="en-US" sz="1200" dirty="0"/>
          </a:p>
        </p:txBody>
      </p:sp>
      <p:sp>
        <p:nvSpPr>
          <p:cNvPr id="25" name="Text 22"/>
          <p:cNvSpPr/>
          <p:nvPr/>
        </p:nvSpPr>
        <p:spPr>
          <a:xfrm>
            <a:off x="2600511" y="3050570"/>
            <a:ext cx="2067111"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Gestion des versions et collaboration</a:t>
            </a:r>
            <a:endParaRPr lang="en-US" sz="1200" dirty="0"/>
          </a:p>
        </p:txBody>
      </p:sp>
      <p:sp>
        <p:nvSpPr>
          <p:cNvPr id="26" name="Text 23"/>
          <p:cNvSpPr/>
          <p:nvPr/>
        </p:nvSpPr>
        <p:spPr>
          <a:xfrm>
            <a:off x="4667622" y="3050570"/>
            <a:ext cx="2067223" cy="570541"/>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Conserve l’historique du code et facilite le travail en équipe.</a:t>
            </a:r>
            <a:endParaRPr lang="en-US" sz="1200" dirty="0"/>
          </a:p>
        </p:txBody>
      </p:sp>
      <p:sp>
        <p:nvSpPr>
          <p:cNvPr id="27" name="Shape 24"/>
          <p:cNvSpPr/>
          <p:nvPr/>
        </p:nvSpPr>
        <p:spPr>
          <a:xfrm>
            <a:off x="533400" y="3568905"/>
            <a:ext cx="6201445" cy="466130"/>
          </a:xfrm>
          <a:prstGeom prst="rect">
            <a:avLst/>
          </a:prstGeom>
          <a:solidFill>
            <a:srgbClr val="E6F0F7"/>
          </a:solidFill>
          <a:ln/>
        </p:spPr>
      </p:sp>
      <p:sp>
        <p:nvSpPr>
          <p:cNvPr id="28" name="Text 25"/>
          <p:cNvSpPr/>
          <p:nvPr/>
        </p:nvSpPr>
        <p:spPr>
          <a:xfrm>
            <a:off x="533400" y="3603486"/>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b="1" dirty="0">
                <a:solidFill>
                  <a:srgbClr val="1F2D6B"/>
                </a:solidFill>
                <a:latin typeface="Times New Roman" pitchFamily="34" charset="0"/>
                <a:ea typeface="Times New Roman" pitchFamily="34" charset="-122"/>
                <a:cs typeface="Times New Roman" pitchFamily="34" charset="-120"/>
              </a:rPr>
              <a:t>Bootstrap 5</a:t>
            </a:r>
            <a:endParaRPr lang="en-US" sz="1200" dirty="0"/>
          </a:p>
        </p:txBody>
      </p:sp>
      <p:sp>
        <p:nvSpPr>
          <p:cNvPr id="29" name="Text 26"/>
          <p:cNvSpPr/>
          <p:nvPr/>
        </p:nvSpPr>
        <p:spPr>
          <a:xfrm>
            <a:off x="2600511" y="3603486"/>
            <a:ext cx="2067111" cy="396968"/>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Interface responsive</a:t>
            </a:r>
            <a:endParaRPr lang="en-US" sz="1200" dirty="0"/>
          </a:p>
        </p:txBody>
      </p:sp>
      <p:sp>
        <p:nvSpPr>
          <p:cNvPr id="30" name="Text 27"/>
          <p:cNvSpPr/>
          <p:nvPr/>
        </p:nvSpPr>
        <p:spPr>
          <a:xfrm>
            <a:off x="4667622" y="3429913"/>
            <a:ext cx="2067223" cy="744114"/>
          </a:xfrm>
          <a:prstGeom prst="rect">
            <a:avLst/>
          </a:prstGeom>
          <a:noFill/>
          <a:ln/>
        </p:spPr>
        <p:txBody>
          <a:bodyPr wrap="square" lIns="110617" tIns="110617" rIns="110617" bIns="110617" rtlCol="0" anchor="ctr">
            <a:spAutoFit/>
          </a:bodyPr>
          <a:lstStyle/>
          <a:p>
            <a:pPr marL="0" indent="0" algn="l">
              <a:lnSpc>
                <a:spcPct val="94400"/>
              </a:lnSpc>
              <a:buNone/>
            </a:pPr>
            <a:r>
              <a:rPr lang="en-US" sz="1200" dirty="0">
                <a:solidFill>
                  <a:srgbClr val="000000"/>
                </a:solidFill>
                <a:latin typeface="Times New Roman" pitchFamily="34" charset="0"/>
                <a:ea typeface="Times New Roman" pitchFamily="34" charset="-122"/>
                <a:cs typeface="Times New Roman" pitchFamily="34" charset="-120"/>
              </a:rPr>
              <a:t>Fournit des composants prêts à l’emploi pour ordinateur, tablette et smartphone.</a:t>
            </a:r>
            <a:endParaRPr lang="en-US" sz="1200" dirty="0"/>
          </a:p>
        </p:txBody>
      </p:sp>
      <p:sp>
        <p:nvSpPr>
          <p:cNvPr id="31" name="Shape 28"/>
          <p:cNvSpPr/>
          <p:nvPr/>
        </p:nvSpPr>
        <p:spPr>
          <a:xfrm>
            <a:off x="6925940" y="746342"/>
            <a:ext cx="1760209" cy="3534482"/>
          </a:xfrm>
          <a:prstGeom prst="rect">
            <a:avLst/>
          </a:prstGeom>
          <a:solidFill>
            <a:srgbClr val="DDEAF4"/>
          </a:solidFill>
          <a:ln w="27432">
            <a:solidFill>
              <a:srgbClr val="F47C17"/>
            </a:solidFill>
            <a:prstDash val="solid"/>
          </a:ln>
        </p:spPr>
      </p:sp>
      <p:sp>
        <p:nvSpPr>
          <p:cNvPr id="32" name="Text 29"/>
          <p:cNvSpPr/>
          <p:nvPr/>
        </p:nvSpPr>
        <p:spPr>
          <a:xfrm>
            <a:off x="7040240" y="889217"/>
            <a:ext cx="1531609" cy="359978"/>
          </a:xfrm>
          <a:prstGeom prst="rect">
            <a:avLst/>
          </a:prstGeom>
          <a:noFill/>
          <a:ln/>
        </p:spPr>
        <p:txBody>
          <a:bodyPr wrap="square" lIns="0" tIns="0" rIns="0" bIns="0" rtlCol="0" anchor="t">
            <a:spAutoFit/>
          </a:bodyPr>
          <a:lstStyle/>
          <a:p>
            <a:pPr marL="0" indent="0" algn="ctr">
              <a:lnSpc>
                <a:spcPct val="96000"/>
              </a:lnSpc>
              <a:buNone/>
            </a:pPr>
            <a:r>
              <a:rPr lang="en-US" sz="1200" b="1" dirty="0">
                <a:solidFill>
                  <a:srgbClr val="1F2D6B"/>
                </a:solidFill>
                <a:latin typeface="Times New Roman" pitchFamily="34" charset="0"/>
                <a:ea typeface="Times New Roman" pitchFamily="34" charset="-122"/>
                <a:cs typeface="Times New Roman" pitchFamily="34" charset="-120"/>
              </a:rPr>
              <a:t>UNE CHAÎNE
COHÉRENTE</a:t>
            </a:r>
            <a:endParaRPr lang="en-US" sz="1200" dirty="0"/>
          </a:p>
        </p:txBody>
      </p:sp>
      <p:sp>
        <p:nvSpPr>
          <p:cNvPr id="33" name="Shape 30"/>
          <p:cNvSpPr/>
          <p:nvPr/>
        </p:nvSpPr>
        <p:spPr>
          <a:xfrm>
            <a:off x="7727436" y="1506370"/>
            <a:ext cx="157163" cy="251427"/>
          </a:xfrm>
          <a:prstGeom prst="rect">
            <a:avLst/>
          </a:prstGeom>
          <a:solidFill>
            <a:srgbClr val="1F2D6B"/>
          </a:solidFill>
          <a:ln/>
        </p:spPr>
      </p:sp>
      <p:sp>
        <p:nvSpPr>
          <p:cNvPr id="34" name="Text 31"/>
          <p:cNvSpPr/>
          <p:nvPr/>
        </p:nvSpPr>
        <p:spPr>
          <a:xfrm>
            <a:off x="7727436" y="1506370"/>
            <a:ext cx="157163" cy="314766"/>
          </a:xfrm>
          <a:prstGeom prst="rect">
            <a:avLst/>
          </a:prstGeom>
          <a:noFill/>
          <a:ln/>
        </p:spPr>
        <p:txBody>
          <a:bodyPr wrap="square" lIns="59563" tIns="68072" rIns="59563" bIns="68072" rtlCol="0" anchor="t">
            <a:spAutoFit/>
          </a:bodyPr>
          <a:lstStyle/>
          <a:p>
            <a:pPr marL="0" indent="0" algn="ctr">
              <a:lnSpc>
                <a:spcPct val="96000"/>
              </a:lnSpc>
              <a:buNone/>
            </a:pPr>
            <a:r>
              <a:rPr lang="en-US" sz="1200" b="1"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35" name="Text 32"/>
          <p:cNvSpPr/>
          <p:nvPr/>
        </p:nvSpPr>
        <p:spPr>
          <a:xfrm>
            <a:off x="7467783" y="1811375"/>
            <a:ext cx="676468" cy="177293"/>
          </a:xfrm>
          <a:prstGeom prst="rect">
            <a:avLst/>
          </a:prstGeom>
          <a:noFill/>
          <a:ln/>
        </p:spPr>
        <p:txBody>
          <a:bodyPr wrap="none" lIns="0" tIns="0" rIns="0" bIns="0" rtlCol="0" anchor="t">
            <a:spAutoFit/>
          </a:bodyPr>
          <a:lstStyle/>
          <a:p>
            <a:pPr marL="0" indent="0" algn="ctr">
              <a:lnSpc>
                <a:spcPct val="96000"/>
              </a:lnSpc>
              <a:buNone/>
            </a:pPr>
            <a:r>
              <a:rPr lang="en-US" sz="1200" b="1" dirty="0">
                <a:solidFill>
                  <a:srgbClr val="000000"/>
                </a:solidFill>
                <a:latin typeface="Times New Roman" pitchFamily="34" charset="0"/>
                <a:ea typeface="Times New Roman" pitchFamily="34" charset="-122"/>
                <a:cs typeface="Times New Roman" pitchFamily="34" charset="-120"/>
              </a:rPr>
              <a:t>Concevoir</a:t>
            </a:r>
            <a:endParaRPr lang="en-US" sz="1200" dirty="0"/>
          </a:p>
        </p:txBody>
      </p:sp>
      <p:sp>
        <p:nvSpPr>
          <p:cNvPr id="36" name="Shape 33"/>
          <p:cNvSpPr/>
          <p:nvPr/>
        </p:nvSpPr>
        <p:spPr>
          <a:xfrm>
            <a:off x="7727436" y="2182124"/>
            <a:ext cx="157163" cy="251427"/>
          </a:xfrm>
          <a:prstGeom prst="rect">
            <a:avLst/>
          </a:prstGeom>
          <a:solidFill>
            <a:srgbClr val="1F2D6B"/>
          </a:solidFill>
          <a:ln/>
        </p:spPr>
      </p:sp>
      <p:sp>
        <p:nvSpPr>
          <p:cNvPr id="37" name="Text 34"/>
          <p:cNvSpPr/>
          <p:nvPr/>
        </p:nvSpPr>
        <p:spPr>
          <a:xfrm>
            <a:off x="7727436" y="2182124"/>
            <a:ext cx="157163" cy="314766"/>
          </a:xfrm>
          <a:prstGeom prst="rect">
            <a:avLst/>
          </a:prstGeom>
          <a:noFill/>
          <a:ln/>
        </p:spPr>
        <p:txBody>
          <a:bodyPr wrap="square" lIns="59563" tIns="68072" rIns="59563" bIns="68072" rtlCol="0" anchor="t">
            <a:spAutoFit/>
          </a:bodyPr>
          <a:lstStyle/>
          <a:p>
            <a:pPr marL="0" indent="0" algn="ctr">
              <a:lnSpc>
                <a:spcPct val="96000"/>
              </a:lnSpc>
              <a:buNone/>
            </a:pPr>
            <a:r>
              <a:rPr lang="en-US" sz="1200" b="1"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38" name="Text 35"/>
          <p:cNvSpPr/>
          <p:nvPr/>
        </p:nvSpPr>
        <p:spPr>
          <a:xfrm>
            <a:off x="7429311" y="2487129"/>
            <a:ext cx="753411" cy="177293"/>
          </a:xfrm>
          <a:prstGeom prst="rect">
            <a:avLst/>
          </a:prstGeom>
          <a:noFill/>
          <a:ln/>
        </p:spPr>
        <p:txBody>
          <a:bodyPr wrap="none" lIns="0" tIns="0" rIns="0" bIns="0" rtlCol="0" anchor="t">
            <a:spAutoFit/>
          </a:bodyPr>
          <a:lstStyle/>
          <a:p>
            <a:pPr marL="0" indent="0" algn="ctr">
              <a:lnSpc>
                <a:spcPct val="96000"/>
              </a:lnSpc>
              <a:buNone/>
            </a:pPr>
            <a:r>
              <a:rPr lang="en-US" sz="1200" b="1" dirty="0">
                <a:solidFill>
                  <a:srgbClr val="000000"/>
                </a:solidFill>
                <a:latin typeface="Times New Roman" pitchFamily="34" charset="0"/>
                <a:ea typeface="Times New Roman" pitchFamily="34" charset="-122"/>
                <a:cs typeface="Times New Roman" pitchFamily="34" charset="-120"/>
              </a:rPr>
              <a:t>Développer</a:t>
            </a:r>
            <a:endParaRPr lang="en-US" sz="1200" dirty="0"/>
          </a:p>
        </p:txBody>
      </p:sp>
      <p:sp>
        <p:nvSpPr>
          <p:cNvPr id="39" name="Shape 36"/>
          <p:cNvSpPr/>
          <p:nvPr/>
        </p:nvSpPr>
        <p:spPr>
          <a:xfrm>
            <a:off x="7727436" y="2857878"/>
            <a:ext cx="157163" cy="251427"/>
          </a:xfrm>
          <a:prstGeom prst="rect">
            <a:avLst/>
          </a:prstGeom>
          <a:solidFill>
            <a:srgbClr val="1F2D6B"/>
          </a:solidFill>
          <a:ln/>
        </p:spPr>
      </p:sp>
      <p:sp>
        <p:nvSpPr>
          <p:cNvPr id="40" name="Text 37"/>
          <p:cNvSpPr/>
          <p:nvPr/>
        </p:nvSpPr>
        <p:spPr>
          <a:xfrm>
            <a:off x="7727436" y="2857878"/>
            <a:ext cx="157163" cy="314766"/>
          </a:xfrm>
          <a:prstGeom prst="rect">
            <a:avLst/>
          </a:prstGeom>
          <a:noFill/>
          <a:ln/>
        </p:spPr>
        <p:txBody>
          <a:bodyPr wrap="square" lIns="59563" tIns="68072" rIns="59563" bIns="68072" rtlCol="0" anchor="t">
            <a:spAutoFit/>
          </a:bodyPr>
          <a:lstStyle/>
          <a:p>
            <a:pPr marL="0" indent="0" algn="ctr">
              <a:lnSpc>
                <a:spcPct val="96000"/>
              </a:lnSpc>
              <a:buNone/>
            </a:pPr>
            <a:r>
              <a:rPr lang="en-US" sz="1200" b="1"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41" name="Text 38"/>
          <p:cNvSpPr/>
          <p:nvPr/>
        </p:nvSpPr>
        <p:spPr>
          <a:xfrm>
            <a:off x="7553572" y="3162883"/>
            <a:ext cx="504946" cy="177293"/>
          </a:xfrm>
          <a:prstGeom prst="rect">
            <a:avLst/>
          </a:prstGeom>
          <a:noFill/>
          <a:ln/>
        </p:spPr>
        <p:txBody>
          <a:bodyPr wrap="none" lIns="0" tIns="0" rIns="0" bIns="0" rtlCol="0" anchor="t">
            <a:spAutoFit/>
          </a:bodyPr>
          <a:lstStyle/>
          <a:p>
            <a:pPr marL="0" indent="0" algn="ctr">
              <a:lnSpc>
                <a:spcPct val="96000"/>
              </a:lnSpc>
              <a:buNone/>
            </a:pPr>
            <a:r>
              <a:rPr lang="en-US" sz="1200" b="1" dirty="0">
                <a:solidFill>
                  <a:srgbClr val="000000"/>
                </a:solidFill>
                <a:latin typeface="Times New Roman" pitchFamily="34" charset="0"/>
                <a:ea typeface="Times New Roman" pitchFamily="34" charset="-122"/>
                <a:cs typeface="Times New Roman" pitchFamily="34" charset="-120"/>
              </a:rPr>
              <a:t>Stocker</a:t>
            </a:r>
            <a:endParaRPr lang="en-US" sz="1200" dirty="0"/>
          </a:p>
        </p:txBody>
      </p:sp>
      <p:sp>
        <p:nvSpPr>
          <p:cNvPr id="42" name="Shape 39"/>
          <p:cNvSpPr/>
          <p:nvPr/>
        </p:nvSpPr>
        <p:spPr>
          <a:xfrm>
            <a:off x="7727436" y="3533633"/>
            <a:ext cx="157163" cy="251427"/>
          </a:xfrm>
          <a:prstGeom prst="rect">
            <a:avLst/>
          </a:prstGeom>
          <a:solidFill>
            <a:srgbClr val="1F2D6B"/>
          </a:solidFill>
          <a:ln/>
        </p:spPr>
      </p:sp>
      <p:sp>
        <p:nvSpPr>
          <p:cNvPr id="43" name="Text 40"/>
          <p:cNvSpPr/>
          <p:nvPr/>
        </p:nvSpPr>
        <p:spPr>
          <a:xfrm>
            <a:off x="7727436" y="3533633"/>
            <a:ext cx="157163" cy="314766"/>
          </a:xfrm>
          <a:prstGeom prst="rect">
            <a:avLst/>
          </a:prstGeom>
          <a:noFill/>
          <a:ln/>
        </p:spPr>
        <p:txBody>
          <a:bodyPr wrap="square" lIns="59563" tIns="68072" rIns="59563" bIns="68072" rtlCol="0" anchor="t">
            <a:spAutoFit/>
          </a:bodyPr>
          <a:lstStyle/>
          <a:p>
            <a:pPr marL="0" indent="0" algn="ctr">
              <a:lnSpc>
                <a:spcPct val="96000"/>
              </a:lnSpc>
              <a:buNone/>
            </a:pPr>
            <a:r>
              <a:rPr lang="en-US" sz="1200" b="1" dirty="0">
                <a:solidFill>
                  <a:srgbClr val="FFFFFF"/>
                </a:solidFill>
                <a:latin typeface="Times New Roman" pitchFamily="34" charset="0"/>
                <a:ea typeface="Times New Roman" pitchFamily="34" charset="-122"/>
                <a:cs typeface="Times New Roman" pitchFamily="34" charset="-120"/>
              </a:rPr>
              <a:t>4</a:t>
            </a:r>
            <a:endParaRPr lang="en-US" sz="1200" dirty="0"/>
          </a:p>
        </p:txBody>
      </p:sp>
      <p:sp>
        <p:nvSpPr>
          <p:cNvPr id="44" name="Text 41"/>
          <p:cNvSpPr/>
          <p:nvPr/>
        </p:nvSpPr>
        <p:spPr>
          <a:xfrm>
            <a:off x="7447549" y="3838637"/>
            <a:ext cx="716992" cy="177293"/>
          </a:xfrm>
          <a:prstGeom prst="rect">
            <a:avLst/>
          </a:prstGeom>
          <a:noFill/>
          <a:ln/>
        </p:spPr>
        <p:txBody>
          <a:bodyPr wrap="none" lIns="0" tIns="0" rIns="0" bIns="0" rtlCol="0" anchor="t">
            <a:spAutoFit/>
          </a:bodyPr>
          <a:lstStyle/>
          <a:p>
            <a:pPr marL="0" indent="0" algn="ctr">
              <a:lnSpc>
                <a:spcPct val="96000"/>
              </a:lnSpc>
              <a:buNone/>
            </a:pPr>
            <a:r>
              <a:rPr lang="en-US" sz="1200" b="1" dirty="0">
                <a:solidFill>
                  <a:srgbClr val="000000"/>
                </a:solidFill>
                <a:latin typeface="Times New Roman" pitchFamily="34" charset="0"/>
                <a:ea typeface="Times New Roman" pitchFamily="34" charset="-122"/>
                <a:cs typeface="Times New Roman" pitchFamily="34" charset="-120"/>
              </a:rPr>
              <a:t>Collaborer</a:t>
            </a:r>
            <a:endParaRPr lang="en-US" sz="1200" dirty="0"/>
          </a:p>
        </p:txBody>
      </p:sp>
      <p:sp>
        <p:nvSpPr>
          <p:cNvPr id="45" name="Shape 42"/>
          <p:cNvSpPr/>
          <p:nvPr/>
        </p:nvSpPr>
        <p:spPr>
          <a:xfrm>
            <a:off x="513755" y="4380837"/>
            <a:ext cx="7886700" cy="235744"/>
          </a:xfrm>
          <a:prstGeom prst="rect">
            <a:avLst/>
          </a:prstGeom>
          <a:solidFill>
            <a:srgbClr val="000000">
              <a:alpha val="0"/>
            </a:srgbClr>
          </a:solidFill>
          <a:ln/>
        </p:spPr>
      </p:sp>
      <p:sp>
        <p:nvSpPr>
          <p:cNvPr id="46" name="Shape 43"/>
          <p:cNvSpPr/>
          <p:nvPr/>
        </p:nvSpPr>
        <p:spPr>
          <a:xfrm>
            <a:off x="513755" y="4380837"/>
            <a:ext cx="7886700" cy="21431"/>
          </a:xfrm>
          <a:prstGeom prst="rect">
            <a:avLst/>
          </a:prstGeom>
          <a:solidFill>
            <a:srgbClr val="F47C17"/>
          </a:solidFill>
          <a:ln/>
        </p:spPr>
      </p:sp>
      <p:sp>
        <p:nvSpPr>
          <p:cNvPr id="47" name="Text 44"/>
          <p:cNvSpPr/>
          <p:nvPr/>
        </p:nvSpPr>
        <p:spPr>
          <a:xfrm>
            <a:off x="513755" y="4380837"/>
            <a:ext cx="7886700" cy="279179"/>
          </a:xfrm>
          <a:prstGeom prst="rect">
            <a:avLst/>
          </a:prstGeom>
          <a:noFill/>
          <a:ln/>
        </p:spPr>
        <p:txBody>
          <a:bodyPr wrap="square" lIns="0" tIns="93599" rIns="0" bIns="0" rtlCol="0" anchor="t">
            <a:spAutoFit/>
          </a:bodyPr>
          <a:lstStyle/>
          <a:p>
            <a:pPr marL="0" indent="0" algn="ctr">
              <a:buNone/>
            </a:pPr>
            <a:r>
              <a:rPr lang="en-US" sz="1200" b="1" dirty="0">
                <a:solidFill>
                  <a:srgbClr val="1F2D6B"/>
                </a:solidFill>
                <a:latin typeface="Times New Roman" pitchFamily="34" charset="0"/>
                <a:ea typeface="Times New Roman" pitchFamily="34" charset="-122"/>
                <a:cs typeface="Times New Roman" pitchFamily="34" charset="-120"/>
              </a:rPr>
              <a:t>Des outils accessibles pour une plateforme fiable, structurée et évolutive.</a:t>
            </a:r>
            <a:endParaRPr lang="en-US" sz="1200" dirty="0"/>
          </a:p>
        </p:txBody>
      </p:sp>
      <p:sp>
        <p:nvSpPr>
          <p:cNvPr id="48" name="Rectangle 47"/>
          <p:cNvSpPr/>
          <p:nvPr/>
        </p:nvSpPr>
        <p:spPr>
          <a:xfrm>
            <a:off x="7044223" y="4833491"/>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10/21</a:t>
            </a:r>
            <a:endParaRPr lang="fr-FR" sz="1600"/>
          </a:p>
        </p:txBody>
      </p:sp>
    </p:spTree>
    <p:extLst>
      <p:ext uri="{BB962C8B-B14F-4D97-AF65-F5344CB8AC3E}">
        <p14:creationId xmlns:p14="http://schemas.microsoft.com/office/powerpoint/2010/main" val="2340769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093203" y="0"/>
            <a:ext cx="3198376" cy="369332"/>
          </a:xfrm>
          <a:prstGeom prst="rect">
            <a:avLst/>
          </a:prstGeom>
        </p:spPr>
        <p:txBody>
          <a:bodyPr wrap="none">
            <a:spAutoFit/>
          </a:bodyPr>
          <a:lstStyle/>
          <a:p>
            <a:r>
              <a:rPr lang="en-US" b="1" smtClean="0">
                <a:solidFill>
                  <a:schemeClr val="accent5"/>
                </a:solidFill>
                <a:latin typeface="Times New Roman" pitchFamily="34" charset="0"/>
                <a:ea typeface="Times New Roman" pitchFamily="34" charset="-122"/>
                <a:cs typeface="Times New Roman" pitchFamily="34" charset="-120"/>
              </a:rPr>
              <a:t>IX</a:t>
            </a:r>
            <a:r>
              <a:rPr lang="en-US" b="1">
                <a:solidFill>
                  <a:schemeClr val="accent5"/>
                </a:solidFill>
                <a:latin typeface="Times New Roman" pitchFamily="34" charset="0"/>
                <a:ea typeface="Times New Roman" pitchFamily="34" charset="-122"/>
                <a:cs typeface="Times New Roman" pitchFamily="34" charset="-120"/>
              </a:rPr>
              <a:t>.   LA CONCEPTION UML</a:t>
            </a:r>
            <a:endParaRPr lang="en-US" dirty="0">
              <a:solidFill>
                <a:schemeClr val="accent5"/>
              </a:solidFill>
            </a:endParaRPr>
          </a:p>
        </p:txBody>
      </p:sp>
      <p:sp>
        <p:nvSpPr>
          <p:cNvPr id="49" name="Rectangle 48"/>
          <p:cNvSpPr/>
          <p:nvPr/>
        </p:nvSpPr>
        <p:spPr>
          <a:xfrm>
            <a:off x="1" y="369332"/>
            <a:ext cx="4657060" cy="3323987"/>
          </a:xfrm>
          <a:prstGeom prst="rect">
            <a:avLst/>
          </a:prstGeom>
        </p:spPr>
        <p:txBody>
          <a:bodyPr wrap="square">
            <a:spAutoFit/>
          </a:bodyPr>
          <a:lstStyle/>
          <a:p>
            <a:pPr>
              <a:lnSpc>
                <a:spcPct val="150000"/>
              </a:lnSpc>
            </a:pPr>
            <a:r>
              <a:rPr lang="fr-FR" sz="1400" b="1" smtClean="0">
                <a:latin typeface="Times New Roman" panose="02020603050405020304" pitchFamily="18" charset="0"/>
                <a:cs typeface="Times New Roman" panose="02020603050405020304" pitchFamily="18" charset="0"/>
              </a:rPr>
              <a:t>Cette </a:t>
            </a:r>
            <a:r>
              <a:rPr lang="fr-FR" sz="1400" b="1">
                <a:latin typeface="Times New Roman" panose="02020603050405020304" pitchFamily="18" charset="0"/>
                <a:cs typeface="Times New Roman" panose="02020603050405020304" pitchFamily="18" charset="0"/>
              </a:rPr>
              <a:t>étape nous permet de représenter graphiquement le fonctionnement du système, les différents acteurs, les données manipulées et les interactions entre les différentes parties.</a:t>
            </a:r>
            <a:endParaRPr lang="fr-FR" sz="1400">
              <a:latin typeface="Times New Roman" panose="02020603050405020304" pitchFamily="18" charset="0"/>
              <a:cs typeface="Times New Roman" panose="02020603050405020304" pitchFamily="18" charset="0"/>
            </a:endParaRPr>
          </a:p>
          <a:p>
            <a:pPr>
              <a:lnSpc>
                <a:spcPct val="150000"/>
              </a:lnSpc>
            </a:pPr>
            <a:r>
              <a:rPr lang="fr-FR" sz="1400" b="1">
                <a:latin typeface="Times New Roman" panose="02020603050405020304" pitchFamily="18" charset="0"/>
                <a:cs typeface="Times New Roman" panose="02020603050405020304" pitchFamily="18" charset="0"/>
              </a:rPr>
              <a:t>Pour cela, nous avons utilisé plusieurs diagrammes UML </a:t>
            </a:r>
            <a:r>
              <a:rPr lang="fr-FR" sz="1400" b="1">
                <a:solidFill>
                  <a:schemeClr val="accent2"/>
                </a:solidFill>
                <a:latin typeface="Times New Roman" panose="02020603050405020304" pitchFamily="18" charset="0"/>
                <a:cs typeface="Times New Roman" panose="02020603050405020304" pitchFamily="18" charset="0"/>
              </a:rPr>
              <a:t>: le diagramme de cas d’utilisation, le diagramme de composants, le diagramme de classes, le diagramme de séquence et le diagramme d’activité</a:t>
            </a:r>
            <a:r>
              <a:rPr lang="fr-FR" sz="1400" b="1">
                <a:latin typeface="Times New Roman" panose="02020603050405020304" pitchFamily="18" charset="0"/>
                <a:cs typeface="Times New Roman" panose="02020603050405020304" pitchFamily="18" charset="0"/>
              </a:rPr>
              <a:t>.</a:t>
            </a:r>
            <a:endParaRPr lang="fr-FR" sz="1400">
              <a:latin typeface="Times New Roman" panose="02020603050405020304" pitchFamily="18" charset="0"/>
              <a:cs typeface="Times New Roman" panose="02020603050405020304" pitchFamily="18" charset="0"/>
            </a:endParaRPr>
          </a:p>
          <a:p>
            <a:pPr>
              <a:lnSpc>
                <a:spcPct val="150000"/>
              </a:lnSpc>
            </a:pPr>
            <a:r>
              <a:rPr lang="fr-FR" sz="1400" b="1" smtClean="0">
                <a:latin typeface="Times New Roman" panose="02020603050405020304" pitchFamily="18" charset="0"/>
                <a:cs typeface="Times New Roman" panose="02020603050405020304" pitchFamily="18" charset="0"/>
              </a:rPr>
              <a:t>‘’Chaque </a:t>
            </a:r>
            <a:r>
              <a:rPr lang="fr-FR" sz="1400" b="1">
                <a:latin typeface="Times New Roman" panose="02020603050405020304" pitchFamily="18" charset="0"/>
                <a:cs typeface="Times New Roman" panose="02020603050405020304" pitchFamily="18" charset="0"/>
              </a:rPr>
              <a:t>diagramme présente le système sous un angle différent. </a:t>
            </a:r>
            <a:r>
              <a:rPr lang="fr-FR" sz="1400" b="1" smtClean="0">
                <a:latin typeface="Times New Roman" panose="02020603050405020304" pitchFamily="18" charset="0"/>
                <a:cs typeface="Times New Roman" panose="02020603050405020304" pitchFamily="18" charset="0"/>
              </a:rPr>
              <a:t>‘’</a:t>
            </a:r>
            <a:endParaRPr lang="fr-FR" sz="1400">
              <a:latin typeface="Times New Roman" panose="02020603050405020304" pitchFamily="18" charset="0"/>
              <a:cs typeface="Times New Roman" panose="02020603050405020304" pitchFamily="18" charset="0"/>
            </a:endParaRPr>
          </a:p>
        </p:txBody>
      </p:sp>
      <p:sp>
        <p:nvSpPr>
          <p:cNvPr id="54" name="Rectangle 53"/>
          <p:cNvSpPr/>
          <p:nvPr/>
        </p:nvSpPr>
        <p:spPr>
          <a:xfrm>
            <a:off x="4944140" y="592616"/>
            <a:ext cx="3934046" cy="4000649"/>
          </a:xfrm>
          <a:prstGeom prst="rect">
            <a:avLst/>
          </a:prstGeom>
          <a:blipFill dpi="0" rotWithShape="1">
            <a:blip r:embed="rId3">
              <a:extLst>
                <a:ext uri="{28A0092B-C50C-407E-A947-70E740481C1C}">
                  <a14:useLocalDpi xmlns:a14="http://schemas.microsoft.com/office/drawing/2010/main"/>
                </a:ext>
              </a:extLst>
            </a:blip>
            <a:srcRect/>
            <a:stretch>
              <a:fillRect/>
            </a:stretch>
          </a:blip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p:cNvSpPr/>
          <p:nvPr/>
        </p:nvSpPr>
        <p:spPr>
          <a:xfrm>
            <a:off x="6880239" y="4864470"/>
            <a:ext cx="2134302"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11/21</a:t>
            </a:r>
            <a:endParaRPr lang="fr-FR" sz="1600"/>
          </a:p>
        </p:txBody>
      </p:sp>
    </p:spTree>
    <p:extLst>
      <p:ext uri="{BB962C8B-B14F-4D97-AF65-F5344CB8AC3E}">
        <p14:creationId xmlns:p14="http://schemas.microsoft.com/office/powerpoint/2010/main" val="990293359"/>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59144" y="414338"/>
            <a:ext cx="8515350" cy="215444"/>
          </a:xfrm>
          <a:prstGeom prst="rect">
            <a:avLst/>
          </a:prstGeom>
          <a:noFill/>
          <a:ln/>
        </p:spPr>
        <p:txBody>
          <a:bodyPr wrap="square" lIns="0" tIns="0" rIns="0" bIns="0" rtlCol="0" anchor="t">
            <a:spAutoFit/>
          </a:bodyPr>
          <a:lstStyle/>
          <a:p>
            <a:pPr marL="0" indent="0" algn="l">
              <a:buNone/>
            </a:pPr>
            <a:r>
              <a:rPr lang="en-US" sz="1400" b="1" smtClean="0">
                <a:solidFill>
                  <a:schemeClr val="accent5"/>
                </a:solidFill>
                <a:latin typeface="Times New Roman" pitchFamily="34" charset="0"/>
                <a:ea typeface="Times New Roman" pitchFamily="34" charset="-122"/>
                <a:cs typeface="Times New Roman" pitchFamily="34" charset="-120"/>
              </a:rPr>
              <a:t>a) UML </a:t>
            </a:r>
            <a:r>
              <a:rPr lang="en-US" sz="1400" b="1" dirty="0">
                <a:solidFill>
                  <a:schemeClr val="accent5"/>
                </a:solidFill>
                <a:latin typeface="Times New Roman" pitchFamily="34" charset="0"/>
                <a:ea typeface="Times New Roman" pitchFamily="34" charset="-122"/>
                <a:cs typeface="Times New Roman" pitchFamily="34" charset="-120"/>
              </a:rPr>
              <a:t>1 — CAS D’UTILISATION</a:t>
            </a:r>
            <a:endParaRPr lang="en-US" sz="1400" dirty="0">
              <a:solidFill>
                <a:schemeClr val="accent5"/>
              </a:solidFill>
            </a:endParaRPr>
          </a:p>
        </p:txBody>
      </p:sp>
      <p:sp>
        <p:nvSpPr>
          <p:cNvPr id="4" name="Shape 1"/>
          <p:cNvSpPr/>
          <p:nvPr/>
        </p:nvSpPr>
        <p:spPr>
          <a:xfrm>
            <a:off x="299982" y="1136422"/>
            <a:ext cx="2681474" cy="1738312"/>
          </a:xfrm>
          <a:prstGeom prst="rect">
            <a:avLst/>
          </a:prstGeom>
          <a:solidFill>
            <a:srgbClr val="DDEAF4"/>
          </a:solidFill>
          <a:ln w="18288">
            <a:solidFill>
              <a:srgbClr val="1F2D6B"/>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442857" y="1587371"/>
            <a:ext cx="2395724" cy="1184940"/>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de cas d’utilisation présente les acteurs de la plateforme et les fonctionnalités auxquelles ils accèdent.</a:t>
            </a:r>
            <a:endParaRPr lang="en-US" sz="1400" dirty="0"/>
          </a:p>
        </p:txBody>
      </p:sp>
      <p:sp>
        <p:nvSpPr>
          <p:cNvPr id="7" name="Text 4"/>
          <p:cNvSpPr/>
          <p:nvPr/>
        </p:nvSpPr>
        <p:spPr>
          <a:xfrm>
            <a:off x="328557" y="3081604"/>
            <a:ext cx="2681474" cy="959941"/>
          </a:xfrm>
          <a:prstGeom prst="rect">
            <a:avLst/>
          </a:prstGeom>
          <a:noFill/>
          <a:ln/>
        </p:spPr>
        <p:txBody>
          <a:bodyPr wrap="square" lIns="0" tIns="0" rIns="0" bIns="0" rtlCol="0" anchor="t">
            <a:spAutoFit/>
          </a:bodyPr>
          <a:lstStyle/>
          <a:p>
            <a:pPr marL="0" indent="0" algn="l">
              <a:lnSpc>
                <a:spcPct val="112000"/>
              </a:lnSpc>
              <a:buNone/>
            </a:pPr>
            <a:r>
              <a:rPr lang="en-US" sz="1400" b="1" dirty="0">
                <a:solidFill>
                  <a:srgbClr val="1F2D6B"/>
                </a:solidFill>
                <a:latin typeface="Times New Roman" pitchFamily="34" charset="0"/>
                <a:ea typeface="Times New Roman" pitchFamily="34" charset="-122"/>
                <a:cs typeface="Times New Roman" pitchFamily="34" charset="-120"/>
              </a:rPr>
              <a:t>Acteurs à représenter :
Administrateur · Chef de sécurité · Agent · Enseignant · Responsable domaine</a:t>
            </a:r>
            <a:endParaRPr lang="en-US" sz="1400" dirty="0"/>
          </a:p>
        </p:txBody>
      </p:sp>
      <p:sp>
        <p:nvSpPr>
          <p:cNvPr id="8" name="Shape 5"/>
          <p:cNvSpPr/>
          <p:nvPr/>
        </p:nvSpPr>
        <p:spPr>
          <a:xfrm>
            <a:off x="3064764" y="74428"/>
            <a:ext cx="5981274" cy="4920216"/>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524436" y="4014788"/>
            <a:ext cx="520511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Rectangle 9"/>
          <p:cNvSpPr/>
          <p:nvPr/>
        </p:nvSpPr>
        <p:spPr>
          <a:xfrm>
            <a:off x="59144" y="4842822"/>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12/21</a:t>
            </a:r>
            <a:endParaRPr lang="fr-FR" sz="16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59144" y="414338"/>
            <a:ext cx="8515350" cy="430887"/>
          </a:xfrm>
          <a:prstGeom prst="rect">
            <a:avLst/>
          </a:prstGeom>
          <a:noFill/>
          <a:ln/>
        </p:spPr>
        <p:txBody>
          <a:bodyPr wrap="square" lIns="0" tIns="0" rIns="0" bIns="0" rtlCol="0" anchor="t">
            <a:spAutoFit/>
          </a:bodyPr>
          <a:lstStyle/>
          <a:p>
            <a:r>
              <a:rPr lang="en-US" sz="1400" b="1">
                <a:solidFill>
                  <a:schemeClr val="accent5"/>
                </a:solidFill>
                <a:latin typeface="Times New Roman" pitchFamily="34" charset="0"/>
                <a:ea typeface="Times New Roman" pitchFamily="34" charset="-122"/>
                <a:cs typeface="Times New Roman" pitchFamily="34" charset="-120"/>
              </a:rPr>
              <a:t>b) UML 2 — DIAGRAMME DE CLASSES</a:t>
            </a:r>
            <a:endParaRPr lang="en-US" sz="1400">
              <a:solidFill>
                <a:schemeClr val="accent5"/>
              </a:solidFill>
            </a:endParaRPr>
          </a:p>
          <a:p>
            <a:pPr marL="0" indent="0" algn="l">
              <a:buNone/>
            </a:pPr>
            <a:endParaRPr lang="en-US" sz="1400" dirty="0">
              <a:solidFill>
                <a:schemeClr val="accent5"/>
              </a:solidFill>
            </a:endParaRPr>
          </a:p>
        </p:txBody>
      </p:sp>
      <p:sp>
        <p:nvSpPr>
          <p:cNvPr id="4" name="Shape 1"/>
          <p:cNvSpPr/>
          <p:nvPr/>
        </p:nvSpPr>
        <p:spPr>
          <a:xfrm>
            <a:off x="299982" y="1136422"/>
            <a:ext cx="2681474" cy="1738312"/>
          </a:xfrm>
          <a:prstGeom prst="rect">
            <a:avLst/>
          </a:prstGeom>
          <a:solidFill>
            <a:srgbClr val="DDEAF4"/>
          </a:solidFill>
          <a:ln w="18288">
            <a:solidFill>
              <a:srgbClr val="1F2D6B"/>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442857" y="1587371"/>
            <a:ext cx="2395724" cy="1173078"/>
          </a:xfrm>
          <a:prstGeom prst="rect">
            <a:avLst/>
          </a:prstGeom>
          <a:noFill/>
          <a:ln/>
        </p:spPr>
        <p:txBody>
          <a:bodyPr wrap="square" lIns="0" tIns="0" rIns="0" bIns="0" rtlCol="0" anchor="t">
            <a:spAutoFit/>
          </a:bodyPr>
          <a:lstStyle/>
          <a:p>
            <a:pPr>
              <a:lnSpc>
                <a:spcPct val="110400"/>
              </a:lnSpc>
            </a:pPr>
            <a:r>
              <a:rPr lang="en-US" sz="1400">
                <a:solidFill>
                  <a:srgbClr val="000000"/>
                </a:solidFill>
                <a:latin typeface="Times New Roman" pitchFamily="34" charset="0"/>
                <a:ea typeface="Times New Roman" pitchFamily="34" charset="-122"/>
                <a:cs typeface="Times New Roman" pitchFamily="34" charset="-120"/>
              </a:rPr>
              <a:t>Le diagramme de classes représente la structure des données et les relations entre les éléments de la plateforme.</a:t>
            </a:r>
            <a:endParaRPr lang="en-US" sz="1400"/>
          </a:p>
          <a:p>
            <a:pPr marL="0" indent="0" algn="l">
              <a:lnSpc>
                <a:spcPct val="110400"/>
              </a:lnSpc>
              <a:buNone/>
            </a:pPr>
            <a:endParaRPr lang="en-US" sz="1400" dirty="0"/>
          </a:p>
        </p:txBody>
      </p:sp>
      <p:sp>
        <p:nvSpPr>
          <p:cNvPr id="7" name="Text 4"/>
          <p:cNvSpPr/>
          <p:nvPr/>
        </p:nvSpPr>
        <p:spPr>
          <a:xfrm>
            <a:off x="328557" y="3081604"/>
            <a:ext cx="2681474" cy="1210716"/>
          </a:xfrm>
          <a:prstGeom prst="rect">
            <a:avLst/>
          </a:prstGeom>
          <a:noFill/>
          <a:ln/>
        </p:spPr>
        <p:txBody>
          <a:bodyPr wrap="square" lIns="0" tIns="0" rIns="0" bIns="0" rtlCol="0" anchor="t">
            <a:spAutoFit/>
          </a:bodyPr>
          <a:lstStyle/>
          <a:p>
            <a:pPr>
              <a:lnSpc>
                <a:spcPct val="112000"/>
              </a:lnSpc>
            </a:pPr>
            <a:r>
              <a:rPr lang="en-US" sz="1400" b="1">
                <a:solidFill>
                  <a:srgbClr val="1F2D6B"/>
                </a:solidFill>
                <a:latin typeface="Times New Roman" pitchFamily="34" charset="0"/>
                <a:ea typeface="Times New Roman" pitchFamily="34" charset="-122"/>
                <a:cs typeface="Times New Roman" pitchFamily="34" charset="-120"/>
              </a:rPr>
              <a:t>Exemples de classes :
Utilisateur · Agent · Affectation · Présence · Incident · Demande · Rapport</a:t>
            </a:r>
            <a:endParaRPr lang="en-US" sz="1400"/>
          </a:p>
          <a:p>
            <a:pPr marL="0" indent="0" algn="l">
              <a:lnSpc>
                <a:spcPct val="112000"/>
              </a:lnSpc>
              <a:buNone/>
            </a:pPr>
            <a:endParaRPr lang="en-US" sz="1400" dirty="0"/>
          </a:p>
        </p:txBody>
      </p:sp>
      <p:sp>
        <p:nvSpPr>
          <p:cNvPr id="8" name="Shape 5"/>
          <p:cNvSpPr/>
          <p:nvPr/>
        </p:nvSpPr>
        <p:spPr>
          <a:xfrm>
            <a:off x="3423170" y="85060"/>
            <a:ext cx="5622867" cy="4965405"/>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524436" y="4014788"/>
            <a:ext cx="520511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ZoneTexte 9"/>
          <p:cNvSpPr txBox="1"/>
          <p:nvPr/>
        </p:nvSpPr>
        <p:spPr>
          <a:xfrm rot="19212755">
            <a:off x="7707377" y="2776022"/>
            <a:ext cx="381836" cy="215444"/>
          </a:xfrm>
          <a:prstGeom prst="rect">
            <a:avLst/>
          </a:prstGeom>
          <a:noFill/>
        </p:spPr>
        <p:txBody>
          <a:bodyPr wrap="none" rtlCol="0">
            <a:spAutoFit/>
          </a:bodyPr>
          <a:lstStyle/>
          <a:p>
            <a:r>
              <a:rPr lang="fr-FR" sz="800" b="1" smtClean="0">
                <a:effectLst>
                  <a:outerShdw blurRad="38100" dist="38100" dir="2700000" algn="tl">
                    <a:srgbClr val="000000">
                      <a:alpha val="43137"/>
                    </a:srgbClr>
                  </a:outerShdw>
                </a:effectLst>
              </a:rPr>
              <a:t>faire</a:t>
            </a:r>
            <a:endParaRPr lang="fr-FR" sz="800" b="1">
              <a:effectLst>
                <a:outerShdw blurRad="38100" dist="38100" dir="2700000" algn="tl">
                  <a:srgbClr val="000000">
                    <a:alpha val="43137"/>
                  </a:srgbClr>
                </a:outerShdw>
              </a:effectLst>
            </a:endParaRPr>
          </a:p>
        </p:txBody>
      </p:sp>
      <p:sp>
        <p:nvSpPr>
          <p:cNvPr id="11" name="ZoneTexte 10"/>
          <p:cNvSpPr txBox="1"/>
          <p:nvPr/>
        </p:nvSpPr>
        <p:spPr>
          <a:xfrm rot="18971979">
            <a:off x="7244557" y="3180867"/>
            <a:ext cx="319318" cy="215444"/>
          </a:xfrm>
          <a:prstGeom prst="rect">
            <a:avLst/>
          </a:prstGeom>
          <a:noFill/>
        </p:spPr>
        <p:txBody>
          <a:bodyPr wrap="none" rtlCol="0">
            <a:spAutoFit/>
          </a:bodyPr>
          <a:lstStyle/>
          <a:p>
            <a:r>
              <a:rPr lang="fr-FR" sz="800" b="1" smtClean="0"/>
              <a:t>0-*</a:t>
            </a:r>
            <a:endParaRPr lang="fr-FR" sz="800" b="1"/>
          </a:p>
        </p:txBody>
      </p:sp>
      <p:sp>
        <p:nvSpPr>
          <p:cNvPr id="12" name="Rectangle 11"/>
          <p:cNvSpPr/>
          <p:nvPr/>
        </p:nvSpPr>
        <p:spPr>
          <a:xfrm>
            <a:off x="0" y="4802907"/>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13/21</a:t>
            </a:r>
            <a:endParaRPr lang="fr-FR" sz="1600"/>
          </a:p>
        </p:txBody>
      </p:sp>
      <p:sp>
        <p:nvSpPr>
          <p:cNvPr id="15" name="Rectangle 14"/>
          <p:cNvSpPr/>
          <p:nvPr/>
        </p:nvSpPr>
        <p:spPr>
          <a:xfrm>
            <a:off x="4866789" y="3738343"/>
            <a:ext cx="481131" cy="276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smtClean="0">
                <a:solidFill>
                  <a:schemeClr val="tx1"/>
                </a:solidFill>
              </a:rPr>
              <a:t>1..*</a:t>
            </a:r>
            <a:endParaRPr lang="fr-FR" sz="1000" b="1">
              <a:solidFill>
                <a:schemeClr val="tx1"/>
              </a:solidFill>
            </a:endParaRPr>
          </a:p>
        </p:txBody>
      </p:sp>
      <p:sp>
        <p:nvSpPr>
          <p:cNvPr id="16" name="Rectangle 15"/>
          <p:cNvSpPr/>
          <p:nvPr/>
        </p:nvSpPr>
        <p:spPr>
          <a:xfrm>
            <a:off x="4941217" y="2291317"/>
            <a:ext cx="144822" cy="276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smtClean="0">
                <a:solidFill>
                  <a:schemeClr val="tx1"/>
                </a:solidFill>
              </a:rPr>
              <a:t>1</a:t>
            </a:r>
            <a:endParaRPr lang="fr-FR" sz="1200" b="1">
              <a:solidFill>
                <a:schemeClr val="tx1"/>
              </a:solidFill>
            </a:endParaRPr>
          </a:p>
        </p:txBody>
      </p:sp>
      <p:sp>
        <p:nvSpPr>
          <p:cNvPr id="17" name="Rectangle 16"/>
          <p:cNvSpPr/>
          <p:nvPr/>
        </p:nvSpPr>
        <p:spPr>
          <a:xfrm>
            <a:off x="8015878" y="2447533"/>
            <a:ext cx="481131" cy="276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smtClean="0">
                <a:solidFill>
                  <a:schemeClr val="tx1"/>
                </a:solidFill>
              </a:rPr>
              <a:t>1</a:t>
            </a:r>
            <a:endParaRPr lang="fr-FR" sz="1050" b="1">
              <a:solidFill>
                <a:schemeClr val="tx1"/>
              </a:solidFill>
            </a:endParaRPr>
          </a:p>
        </p:txBody>
      </p:sp>
    </p:spTree>
    <p:extLst>
      <p:ext uri="{BB962C8B-B14F-4D97-AF65-F5344CB8AC3E}">
        <p14:creationId xmlns:p14="http://schemas.microsoft.com/office/powerpoint/2010/main" val="387018974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0" y="359914"/>
            <a:ext cx="8515350" cy="215444"/>
          </a:xfrm>
          <a:prstGeom prst="rect">
            <a:avLst/>
          </a:prstGeom>
          <a:noFill/>
          <a:ln/>
        </p:spPr>
        <p:txBody>
          <a:bodyPr wrap="square" lIns="0" tIns="0" rIns="0" bIns="0" rtlCol="0" anchor="t">
            <a:spAutoFit/>
          </a:bodyPr>
          <a:lstStyle/>
          <a:p>
            <a:pPr marL="0" indent="0" algn="l">
              <a:buNone/>
            </a:pPr>
            <a:r>
              <a:rPr lang="en-US" sz="1400" b="1" smtClean="0">
                <a:solidFill>
                  <a:schemeClr val="accent5"/>
                </a:solidFill>
                <a:latin typeface="Times New Roman" pitchFamily="34" charset="0"/>
                <a:ea typeface="Times New Roman" pitchFamily="34" charset="-122"/>
                <a:cs typeface="Times New Roman" pitchFamily="34" charset="-120"/>
              </a:rPr>
              <a:t>e) UML </a:t>
            </a:r>
            <a:r>
              <a:rPr lang="en-US" sz="1400" b="1" dirty="0">
                <a:solidFill>
                  <a:schemeClr val="accent5"/>
                </a:solidFill>
                <a:latin typeface="Times New Roman" pitchFamily="34" charset="0"/>
                <a:ea typeface="Times New Roman" pitchFamily="34" charset="-122"/>
                <a:cs typeface="Times New Roman" pitchFamily="34" charset="-120"/>
              </a:rPr>
              <a:t>3</a:t>
            </a:r>
            <a:r>
              <a:rPr lang="en-US" sz="1400" b="1" smtClean="0">
                <a:solidFill>
                  <a:schemeClr val="accent5"/>
                </a:solidFill>
                <a:latin typeface="Times New Roman" pitchFamily="34" charset="0"/>
                <a:ea typeface="Times New Roman" pitchFamily="34" charset="-122"/>
                <a:cs typeface="Times New Roman" pitchFamily="34" charset="-120"/>
              </a:rPr>
              <a:t> </a:t>
            </a:r>
            <a:r>
              <a:rPr lang="en-US" sz="1400" b="1" dirty="0">
                <a:solidFill>
                  <a:schemeClr val="accent5"/>
                </a:solidFill>
                <a:latin typeface="Times New Roman" pitchFamily="34" charset="0"/>
                <a:ea typeface="Times New Roman" pitchFamily="34" charset="-122"/>
                <a:cs typeface="Times New Roman" pitchFamily="34" charset="-120"/>
              </a:rPr>
              <a:t>— DIAGRAMME DE COMPOSANTS</a:t>
            </a:r>
            <a:endParaRPr lang="en-US" sz="1400" dirty="0">
              <a:solidFill>
                <a:schemeClr val="accent5"/>
              </a:solidFill>
            </a:endParaRPr>
          </a:p>
        </p:txBody>
      </p:sp>
      <p:sp>
        <p:nvSpPr>
          <p:cNvPr id="4" name="Shape 1"/>
          <p:cNvSpPr/>
          <p:nvPr/>
        </p:nvSpPr>
        <p:spPr>
          <a:xfrm>
            <a:off x="628650" y="1128713"/>
            <a:ext cx="2681474" cy="1624280"/>
          </a:xfrm>
          <a:prstGeom prst="rect">
            <a:avLst/>
          </a:prstGeom>
          <a:solidFill>
            <a:srgbClr val="DDEAF4"/>
          </a:solidFill>
          <a:ln w="18288">
            <a:solidFill>
              <a:srgbClr val="1F2D6B"/>
            </a:solidFill>
            <a:prstDash val="solid"/>
          </a:ln>
        </p:spPr>
      </p:sp>
      <p:sp>
        <p:nvSpPr>
          <p:cNvPr id="5" name="Text 2"/>
          <p:cNvSpPr/>
          <p:nvPr/>
        </p:nvSpPr>
        <p:spPr>
          <a:xfrm>
            <a:off x="771525" y="1285875"/>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771525" y="1568053"/>
            <a:ext cx="2395724" cy="1184940"/>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de composants représente les principaux éléments techniques de la plateforme et les relations entre eux.</a:t>
            </a:r>
            <a:endParaRPr lang="en-US" sz="1400" dirty="0"/>
          </a:p>
        </p:txBody>
      </p:sp>
      <p:sp>
        <p:nvSpPr>
          <p:cNvPr id="7" name="Text 4"/>
          <p:cNvSpPr/>
          <p:nvPr/>
        </p:nvSpPr>
        <p:spPr>
          <a:xfrm>
            <a:off x="628650" y="2988303"/>
            <a:ext cx="2681474" cy="973782"/>
          </a:xfrm>
          <a:prstGeom prst="rect">
            <a:avLst/>
          </a:prstGeom>
          <a:noFill/>
          <a:ln/>
        </p:spPr>
        <p:txBody>
          <a:bodyPr wrap="square" lIns="0" tIns="0" rIns="0" bIns="0" rtlCol="0" anchor="t">
            <a:spAutoFit/>
          </a:bodyPr>
          <a:lstStyle/>
          <a:p>
            <a:pPr marL="0" indent="0" algn="l">
              <a:lnSpc>
                <a:spcPct val="113600"/>
              </a:lnSpc>
              <a:buNone/>
            </a:pPr>
            <a:r>
              <a:rPr lang="en-US" sz="1400" b="1" dirty="0">
                <a:solidFill>
                  <a:srgbClr val="1F2D6B"/>
                </a:solidFill>
                <a:latin typeface="Times New Roman" pitchFamily="34" charset="0"/>
                <a:ea typeface="Times New Roman" pitchFamily="34" charset="-122"/>
                <a:cs typeface="Times New Roman" pitchFamily="34" charset="-120"/>
              </a:rPr>
              <a:t>Composants possibles :
Interface utilisateur · application serveur · base de données · modules de gestion</a:t>
            </a:r>
            <a:endParaRPr lang="en-US" sz="1400" dirty="0"/>
          </a:p>
        </p:txBody>
      </p:sp>
      <p:sp>
        <p:nvSpPr>
          <p:cNvPr id="8" name="Shape 5"/>
          <p:cNvSpPr/>
          <p:nvPr/>
        </p:nvSpPr>
        <p:spPr>
          <a:xfrm>
            <a:off x="3859620" y="95693"/>
            <a:ext cx="5084244" cy="4965405"/>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524436" y="3814763"/>
            <a:ext cx="520511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2" name="Text 9"/>
          <p:cNvSpPr/>
          <p:nvPr/>
        </p:nvSpPr>
        <p:spPr>
          <a:xfrm>
            <a:off x="628650" y="4471988"/>
            <a:ext cx="7886700" cy="472950"/>
          </a:xfrm>
          <a:prstGeom prst="rect">
            <a:avLst/>
          </a:prstGeom>
          <a:noFill/>
          <a:ln/>
        </p:spPr>
        <p:txBody>
          <a:bodyPr wrap="square" lIns="127508" tIns="127508" rIns="127508" bIns="127508" rtlCol="0" anchor="t">
            <a:spAutoFit/>
          </a:bodyPr>
          <a:lstStyle/>
          <a:p>
            <a:pPr marL="0" indent="0" algn="ctr">
              <a:buNone/>
            </a:pPr>
            <a:endParaRPr lang="en-US" sz="1400" dirty="0"/>
          </a:p>
        </p:txBody>
      </p:sp>
      <p:sp>
        <p:nvSpPr>
          <p:cNvPr id="10" name="Rectangle 9"/>
          <p:cNvSpPr/>
          <p:nvPr/>
        </p:nvSpPr>
        <p:spPr>
          <a:xfrm>
            <a:off x="102202" y="4804946"/>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14/21</a:t>
            </a:r>
            <a:endParaRPr lang="fr-FR" sz="160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22594" y="414338"/>
            <a:ext cx="8515350" cy="215444"/>
          </a:xfrm>
          <a:prstGeom prst="rect">
            <a:avLst/>
          </a:prstGeom>
          <a:noFill/>
          <a:ln/>
        </p:spPr>
        <p:txBody>
          <a:bodyPr wrap="square" lIns="0" tIns="0" rIns="0" bIns="0" rtlCol="0" anchor="t">
            <a:spAutoFit/>
          </a:bodyPr>
          <a:lstStyle/>
          <a:p>
            <a:pPr marL="0" indent="0" algn="l">
              <a:buNone/>
            </a:pPr>
            <a:r>
              <a:rPr lang="en-US" sz="1400" b="1" smtClean="0">
                <a:solidFill>
                  <a:schemeClr val="accent5"/>
                </a:solidFill>
                <a:latin typeface="Times New Roman" pitchFamily="34" charset="0"/>
                <a:ea typeface="Times New Roman" pitchFamily="34" charset="-122"/>
                <a:cs typeface="Times New Roman" pitchFamily="34" charset="-120"/>
              </a:rPr>
              <a:t>c) UML </a:t>
            </a:r>
            <a:r>
              <a:rPr lang="en-US" sz="1400" b="1" dirty="0">
                <a:solidFill>
                  <a:schemeClr val="accent5"/>
                </a:solidFill>
                <a:latin typeface="Times New Roman" pitchFamily="34" charset="0"/>
                <a:ea typeface="Times New Roman" pitchFamily="34" charset="-122"/>
                <a:cs typeface="Times New Roman" pitchFamily="34" charset="-120"/>
              </a:rPr>
              <a:t>4</a:t>
            </a:r>
            <a:r>
              <a:rPr lang="en-US" sz="1400" b="1" smtClean="0">
                <a:solidFill>
                  <a:schemeClr val="accent5"/>
                </a:solidFill>
                <a:latin typeface="Times New Roman" pitchFamily="34" charset="0"/>
                <a:ea typeface="Times New Roman" pitchFamily="34" charset="-122"/>
                <a:cs typeface="Times New Roman" pitchFamily="34" charset="-120"/>
              </a:rPr>
              <a:t> </a:t>
            </a:r>
            <a:r>
              <a:rPr lang="en-US" sz="1400" b="1" dirty="0">
                <a:solidFill>
                  <a:schemeClr val="accent5"/>
                </a:solidFill>
                <a:latin typeface="Times New Roman" pitchFamily="34" charset="0"/>
                <a:ea typeface="Times New Roman" pitchFamily="34" charset="-122"/>
                <a:cs typeface="Times New Roman" pitchFamily="34" charset="-120"/>
              </a:rPr>
              <a:t>— DIAGRAMME D’ACTIVITÉ</a:t>
            </a:r>
            <a:endParaRPr lang="en-US" sz="1400" dirty="0">
              <a:solidFill>
                <a:schemeClr val="accent5"/>
              </a:solidFill>
            </a:endParaRPr>
          </a:p>
        </p:txBody>
      </p:sp>
      <p:sp>
        <p:nvSpPr>
          <p:cNvPr id="4" name="Shape 1"/>
          <p:cNvSpPr/>
          <p:nvPr/>
        </p:nvSpPr>
        <p:spPr>
          <a:xfrm>
            <a:off x="628650" y="1157288"/>
            <a:ext cx="2681474" cy="1546175"/>
          </a:xfrm>
          <a:prstGeom prst="rect">
            <a:avLst/>
          </a:prstGeom>
          <a:solidFill>
            <a:srgbClr val="DDEAF4"/>
          </a:solidFill>
          <a:ln w="18288">
            <a:solidFill>
              <a:srgbClr val="1F2D6B"/>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771525" y="1596628"/>
            <a:ext cx="2395724" cy="934936"/>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d’activité décrit le déroulement d’un processus, les actions réalisées, les décisions et les différents chemins possibles.</a:t>
            </a:r>
            <a:endParaRPr lang="en-US" sz="1400" dirty="0"/>
          </a:p>
        </p:txBody>
      </p:sp>
      <p:sp>
        <p:nvSpPr>
          <p:cNvPr id="7" name="Text 4"/>
          <p:cNvSpPr/>
          <p:nvPr/>
        </p:nvSpPr>
        <p:spPr>
          <a:xfrm>
            <a:off x="628650" y="2817763"/>
            <a:ext cx="2681474" cy="231602"/>
          </a:xfrm>
          <a:prstGeom prst="rect">
            <a:avLst/>
          </a:prstGeom>
          <a:noFill/>
          <a:ln/>
        </p:spPr>
        <p:txBody>
          <a:bodyPr wrap="square" lIns="0" tIns="0" rIns="0" bIns="0" rtlCol="0" anchor="t">
            <a:spAutoFit/>
          </a:bodyPr>
          <a:lstStyle/>
          <a:p>
            <a:pPr marL="0" indent="0" algn="l">
              <a:lnSpc>
                <a:spcPct val="113600"/>
              </a:lnSpc>
              <a:buNone/>
            </a:pPr>
            <a:endParaRPr lang="en-US" sz="1400" dirty="0"/>
          </a:p>
        </p:txBody>
      </p:sp>
      <p:sp>
        <p:nvSpPr>
          <p:cNvPr id="8" name="Shape 5"/>
          <p:cNvSpPr/>
          <p:nvPr/>
        </p:nvSpPr>
        <p:spPr>
          <a:xfrm>
            <a:off x="3359888" y="138223"/>
            <a:ext cx="5550196" cy="4880346"/>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754989" y="4211241"/>
            <a:ext cx="4743952"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Rectangle 9"/>
          <p:cNvSpPr/>
          <p:nvPr/>
        </p:nvSpPr>
        <p:spPr>
          <a:xfrm>
            <a:off x="122761" y="4774168"/>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15/21</a:t>
            </a:r>
            <a:endParaRPr lang="fr-FR" sz="160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191386" y="457472"/>
            <a:ext cx="3465936" cy="215444"/>
          </a:xfrm>
          <a:prstGeom prst="rect">
            <a:avLst/>
          </a:prstGeom>
          <a:noFill/>
          <a:ln/>
        </p:spPr>
        <p:txBody>
          <a:bodyPr wrap="square" lIns="0" tIns="0" rIns="0" bIns="0" rtlCol="0" anchor="t">
            <a:spAutoFit/>
          </a:bodyPr>
          <a:lstStyle/>
          <a:p>
            <a:r>
              <a:rPr lang="en-US" sz="1400" b="1" smtClean="0">
                <a:solidFill>
                  <a:schemeClr val="accent5"/>
                </a:solidFill>
                <a:latin typeface="Times New Roman" pitchFamily="34" charset="0"/>
                <a:ea typeface="Times New Roman" pitchFamily="34" charset="-122"/>
                <a:cs typeface="Times New Roman" pitchFamily="34" charset="-120"/>
              </a:rPr>
              <a:t>1-DIAGRAMME </a:t>
            </a:r>
            <a:r>
              <a:rPr lang="en-US" sz="1400" b="1" dirty="0">
                <a:solidFill>
                  <a:schemeClr val="accent5"/>
                </a:solidFill>
                <a:latin typeface="Times New Roman" pitchFamily="34" charset="0"/>
                <a:ea typeface="Times New Roman" pitchFamily="34" charset="-122"/>
                <a:cs typeface="Times New Roman" pitchFamily="34" charset="-120"/>
              </a:rPr>
              <a:t>DE SÉQUENCE</a:t>
            </a:r>
            <a:endParaRPr lang="en-US" sz="1400" dirty="0">
              <a:solidFill>
                <a:schemeClr val="accent5"/>
              </a:solidFill>
            </a:endParaRPr>
          </a:p>
        </p:txBody>
      </p:sp>
      <p:sp>
        <p:nvSpPr>
          <p:cNvPr id="4" name="Shape 1"/>
          <p:cNvSpPr/>
          <p:nvPr/>
        </p:nvSpPr>
        <p:spPr>
          <a:xfrm>
            <a:off x="628650" y="1157288"/>
            <a:ext cx="2681474" cy="1772878"/>
          </a:xfrm>
          <a:prstGeom prst="rect">
            <a:avLst/>
          </a:prstGeom>
          <a:solidFill>
            <a:srgbClr val="FFF8EF"/>
          </a:solidFill>
          <a:ln w="18288">
            <a:solidFill>
              <a:srgbClr val="F47C17"/>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771525" y="1596628"/>
            <a:ext cx="2395724" cy="1184940"/>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de séquence montre l’ordre chronologique des messages échangés entre les acteurs et les éléments de la plateforme.</a:t>
            </a:r>
            <a:endParaRPr lang="en-US" sz="1400" dirty="0"/>
          </a:p>
        </p:txBody>
      </p:sp>
      <p:sp>
        <p:nvSpPr>
          <p:cNvPr id="7" name="Text 4"/>
          <p:cNvSpPr/>
          <p:nvPr/>
        </p:nvSpPr>
        <p:spPr>
          <a:xfrm>
            <a:off x="629979" y="3237459"/>
            <a:ext cx="2681474" cy="231602"/>
          </a:xfrm>
          <a:prstGeom prst="rect">
            <a:avLst/>
          </a:prstGeom>
          <a:noFill/>
          <a:ln/>
        </p:spPr>
        <p:txBody>
          <a:bodyPr wrap="square" lIns="0" tIns="0" rIns="0" bIns="0" rtlCol="0" anchor="t">
            <a:spAutoFit/>
          </a:bodyPr>
          <a:lstStyle/>
          <a:p>
            <a:pPr marL="0" indent="0" algn="l">
              <a:lnSpc>
                <a:spcPct val="113600"/>
              </a:lnSpc>
              <a:buNone/>
            </a:pPr>
            <a:endParaRPr lang="en-US" sz="1400" dirty="0"/>
          </a:p>
        </p:txBody>
      </p:sp>
      <p:sp>
        <p:nvSpPr>
          <p:cNvPr id="8" name="Shape 5"/>
          <p:cNvSpPr/>
          <p:nvPr/>
        </p:nvSpPr>
        <p:spPr>
          <a:xfrm>
            <a:off x="3310124" y="148856"/>
            <a:ext cx="5748815" cy="4901609"/>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657321" y="4211241"/>
            <a:ext cx="493934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Rectangle 9"/>
          <p:cNvSpPr/>
          <p:nvPr/>
        </p:nvSpPr>
        <p:spPr>
          <a:xfrm>
            <a:off x="0" y="21406"/>
            <a:ext cx="1146532" cy="369332"/>
          </a:xfrm>
          <a:prstGeom prst="rect">
            <a:avLst/>
          </a:prstGeom>
        </p:spPr>
        <p:txBody>
          <a:bodyPr wrap="none">
            <a:spAutoFit/>
          </a:bodyPr>
          <a:lstStyle/>
          <a:p>
            <a:r>
              <a:rPr lang="en-US" b="1">
                <a:solidFill>
                  <a:schemeClr val="accent5"/>
                </a:solidFill>
                <a:latin typeface="Times New Roman" pitchFamily="34" charset="0"/>
                <a:ea typeface="Times New Roman" pitchFamily="34" charset="-122"/>
                <a:cs typeface="Times New Roman" pitchFamily="34" charset="-120"/>
              </a:rPr>
              <a:t>d) UML </a:t>
            </a:r>
            <a:r>
              <a:rPr lang="en-US" b="1" smtClean="0">
                <a:solidFill>
                  <a:schemeClr val="accent5"/>
                </a:solidFill>
                <a:latin typeface="Times New Roman" pitchFamily="34" charset="0"/>
                <a:ea typeface="Times New Roman" pitchFamily="34" charset="-122"/>
                <a:cs typeface="Times New Roman" pitchFamily="34" charset="-120"/>
              </a:rPr>
              <a:t>5</a:t>
            </a:r>
            <a:endParaRPr lang="fr-FR"/>
          </a:p>
        </p:txBody>
      </p:sp>
      <p:sp>
        <p:nvSpPr>
          <p:cNvPr id="11" name="Rectangle 10"/>
          <p:cNvSpPr/>
          <p:nvPr/>
        </p:nvSpPr>
        <p:spPr>
          <a:xfrm>
            <a:off x="47011" y="4789316"/>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16/21</a:t>
            </a:r>
            <a:endParaRPr lang="fr-FR" sz="16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36371" y="0"/>
            <a:ext cx="8515350" cy="430887"/>
          </a:xfrm>
          <a:prstGeom prst="rect">
            <a:avLst/>
          </a:prstGeom>
          <a:noFill/>
          <a:ln/>
        </p:spPr>
        <p:txBody>
          <a:bodyPr wrap="square" lIns="0" tIns="0" rIns="0" bIns="0" rtlCol="0" anchor="t">
            <a:spAutoFit/>
          </a:bodyPr>
          <a:lstStyle/>
          <a:p>
            <a:r>
              <a:rPr lang="en-US" sz="1400" b="1">
                <a:solidFill>
                  <a:schemeClr val="accent5"/>
                </a:solidFill>
                <a:latin typeface="Times New Roman" pitchFamily="34" charset="0"/>
                <a:ea typeface="Times New Roman" pitchFamily="34" charset="-122"/>
                <a:cs typeface="Times New Roman" pitchFamily="34" charset="-120"/>
              </a:rPr>
              <a:t>2</a:t>
            </a:r>
            <a:r>
              <a:rPr lang="en-US" sz="1400" b="1" smtClean="0">
                <a:solidFill>
                  <a:schemeClr val="accent5"/>
                </a:solidFill>
                <a:latin typeface="Times New Roman" pitchFamily="34" charset="0"/>
                <a:ea typeface="Times New Roman" pitchFamily="34" charset="-122"/>
                <a:cs typeface="Times New Roman" pitchFamily="34" charset="-120"/>
              </a:rPr>
              <a:t>-DIAGRAMME </a:t>
            </a:r>
            <a:r>
              <a:rPr lang="en-US" sz="1400" b="1">
                <a:solidFill>
                  <a:schemeClr val="accent5"/>
                </a:solidFill>
                <a:latin typeface="Times New Roman" pitchFamily="34" charset="0"/>
                <a:ea typeface="Times New Roman" pitchFamily="34" charset="-122"/>
                <a:cs typeface="Times New Roman" pitchFamily="34" charset="-120"/>
              </a:rPr>
              <a:t>DE SÉQUENCE</a:t>
            </a:r>
            <a:endParaRPr lang="en-US" sz="1400">
              <a:solidFill>
                <a:schemeClr val="accent5"/>
              </a:solidFill>
            </a:endParaRPr>
          </a:p>
          <a:p>
            <a:pPr marL="0" indent="0" algn="l">
              <a:buNone/>
            </a:pPr>
            <a:endParaRPr lang="en-US" sz="1400" dirty="0">
              <a:solidFill>
                <a:schemeClr val="accent5"/>
              </a:solidFill>
            </a:endParaRPr>
          </a:p>
        </p:txBody>
      </p:sp>
      <p:sp>
        <p:nvSpPr>
          <p:cNvPr id="4" name="Shape 1"/>
          <p:cNvSpPr/>
          <p:nvPr/>
        </p:nvSpPr>
        <p:spPr>
          <a:xfrm>
            <a:off x="628650" y="1157288"/>
            <a:ext cx="2681474" cy="1772878"/>
          </a:xfrm>
          <a:prstGeom prst="rect">
            <a:avLst/>
          </a:prstGeom>
          <a:solidFill>
            <a:srgbClr val="FFF8EF"/>
          </a:solidFill>
          <a:ln w="18288">
            <a:solidFill>
              <a:srgbClr val="F47C17"/>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771525" y="1596628"/>
            <a:ext cx="2395724" cy="1184940"/>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de séquence montre l’ordre chronologique des messages échangés entre les acteurs et les éléments de la plateforme.</a:t>
            </a:r>
            <a:endParaRPr lang="en-US" sz="1400" dirty="0"/>
          </a:p>
        </p:txBody>
      </p:sp>
      <p:sp>
        <p:nvSpPr>
          <p:cNvPr id="7" name="Text 4"/>
          <p:cNvSpPr/>
          <p:nvPr/>
        </p:nvSpPr>
        <p:spPr>
          <a:xfrm>
            <a:off x="629979" y="3237459"/>
            <a:ext cx="2681474" cy="973782"/>
          </a:xfrm>
          <a:prstGeom prst="rect">
            <a:avLst/>
          </a:prstGeom>
          <a:noFill/>
          <a:ln/>
        </p:spPr>
        <p:txBody>
          <a:bodyPr wrap="square" lIns="0" tIns="0" rIns="0" bIns="0" rtlCol="0" anchor="t">
            <a:spAutoFit/>
          </a:bodyPr>
          <a:lstStyle/>
          <a:p>
            <a:pPr marL="0" indent="0" algn="l">
              <a:lnSpc>
                <a:spcPct val="113600"/>
              </a:lnSpc>
              <a:buNone/>
            </a:pPr>
            <a:r>
              <a:rPr lang="en-US" sz="1400" b="1" dirty="0">
                <a:solidFill>
                  <a:srgbClr val="1F2D6B"/>
                </a:solidFill>
                <a:latin typeface="Times New Roman" pitchFamily="34" charset="0"/>
                <a:ea typeface="Times New Roman" pitchFamily="34" charset="-122"/>
                <a:cs typeface="Times New Roman" pitchFamily="34" charset="-120"/>
              </a:rPr>
              <a:t>Scénarios possibles :
Créer un compte · affecter un agent · signaler un incident · suivre une demande</a:t>
            </a:r>
            <a:endParaRPr lang="en-US" sz="1400" dirty="0"/>
          </a:p>
        </p:txBody>
      </p:sp>
      <p:sp>
        <p:nvSpPr>
          <p:cNvPr id="8" name="Shape 5"/>
          <p:cNvSpPr/>
          <p:nvPr/>
        </p:nvSpPr>
        <p:spPr>
          <a:xfrm>
            <a:off x="138223" y="263024"/>
            <a:ext cx="8559210" cy="475554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657321" y="4211241"/>
            <a:ext cx="493934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Rectangle 9"/>
          <p:cNvSpPr/>
          <p:nvPr/>
        </p:nvSpPr>
        <p:spPr>
          <a:xfrm>
            <a:off x="7559931" y="4944859"/>
            <a:ext cx="1722292" cy="276999"/>
          </a:xfrm>
          <a:prstGeom prst="rect">
            <a:avLst/>
          </a:prstGeom>
        </p:spPr>
        <p:txBody>
          <a:bodyPr wrap="square">
            <a:spAutoFit/>
          </a:bodyPr>
          <a:lstStyle/>
          <a:p>
            <a:r>
              <a:rPr lang="fr-FR" sz="1200">
                <a:solidFill>
                  <a:srgbClr val="002060"/>
                </a:solidFill>
                <a:latin typeface="Times New Roman"/>
              </a:rPr>
              <a:t>Projet tutoriel   |   </a:t>
            </a:r>
            <a:r>
              <a:rPr lang="fr-FR" sz="1200" smtClean="0">
                <a:solidFill>
                  <a:srgbClr val="002060"/>
                </a:solidFill>
                <a:latin typeface="Times New Roman"/>
              </a:rPr>
              <a:t>17/21</a:t>
            </a:r>
            <a:endParaRPr lang="fr-FR" sz="1200"/>
          </a:p>
        </p:txBody>
      </p:sp>
    </p:spTree>
    <p:extLst>
      <p:ext uri="{BB962C8B-B14F-4D97-AF65-F5344CB8AC3E}">
        <p14:creationId xmlns:p14="http://schemas.microsoft.com/office/powerpoint/2010/main" val="579988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4473" y="9585"/>
            <a:ext cx="8515350" cy="430887"/>
          </a:xfrm>
          <a:prstGeom prst="rect">
            <a:avLst/>
          </a:prstGeom>
          <a:noFill/>
          <a:ln/>
        </p:spPr>
        <p:txBody>
          <a:bodyPr wrap="square" lIns="0" tIns="0" rIns="0" bIns="0" rtlCol="0" anchor="t">
            <a:spAutoFit/>
          </a:bodyPr>
          <a:lstStyle/>
          <a:p>
            <a:r>
              <a:rPr lang="en-US" sz="1400" b="1">
                <a:solidFill>
                  <a:schemeClr val="accent5"/>
                </a:solidFill>
                <a:latin typeface="Times New Roman" pitchFamily="34" charset="0"/>
                <a:ea typeface="Times New Roman" pitchFamily="34" charset="-122"/>
                <a:cs typeface="Times New Roman" pitchFamily="34" charset="-120"/>
              </a:rPr>
              <a:t>3</a:t>
            </a:r>
            <a:r>
              <a:rPr lang="en-US" sz="1400" b="1" smtClean="0">
                <a:solidFill>
                  <a:schemeClr val="accent5"/>
                </a:solidFill>
                <a:latin typeface="Times New Roman" pitchFamily="34" charset="0"/>
                <a:ea typeface="Times New Roman" pitchFamily="34" charset="-122"/>
                <a:cs typeface="Times New Roman" pitchFamily="34" charset="-120"/>
              </a:rPr>
              <a:t>-DIAGRAMME </a:t>
            </a:r>
            <a:r>
              <a:rPr lang="en-US" sz="1400" b="1">
                <a:solidFill>
                  <a:schemeClr val="accent5"/>
                </a:solidFill>
                <a:latin typeface="Times New Roman" pitchFamily="34" charset="0"/>
                <a:ea typeface="Times New Roman" pitchFamily="34" charset="-122"/>
                <a:cs typeface="Times New Roman" pitchFamily="34" charset="-120"/>
              </a:rPr>
              <a:t>DE SÉQUENCE</a:t>
            </a:r>
            <a:endParaRPr lang="en-US" sz="1400">
              <a:solidFill>
                <a:schemeClr val="accent5"/>
              </a:solidFill>
            </a:endParaRPr>
          </a:p>
          <a:p>
            <a:pPr marL="0" indent="0" algn="l">
              <a:buNone/>
            </a:pPr>
            <a:endParaRPr lang="en-US" sz="1400" dirty="0">
              <a:solidFill>
                <a:schemeClr val="accent5"/>
              </a:solidFill>
            </a:endParaRPr>
          </a:p>
        </p:txBody>
      </p:sp>
      <p:sp>
        <p:nvSpPr>
          <p:cNvPr id="4" name="Shape 1"/>
          <p:cNvSpPr/>
          <p:nvPr/>
        </p:nvSpPr>
        <p:spPr>
          <a:xfrm>
            <a:off x="628650" y="1157288"/>
            <a:ext cx="2681474" cy="1772878"/>
          </a:xfrm>
          <a:prstGeom prst="rect">
            <a:avLst/>
          </a:prstGeom>
          <a:solidFill>
            <a:srgbClr val="FFF8EF"/>
          </a:solidFill>
          <a:ln w="18288">
            <a:solidFill>
              <a:srgbClr val="F47C17"/>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771525" y="1596628"/>
            <a:ext cx="2395724" cy="1184940"/>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de séquence montre l’ordre chronologique des messages échangés entre les acteurs et les éléments de la plateforme.</a:t>
            </a:r>
            <a:endParaRPr lang="en-US" sz="1400" dirty="0"/>
          </a:p>
        </p:txBody>
      </p:sp>
      <p:sp>
        <p:nvSpPr>
          <p:cNvPr id="7" name="Text 4"/>
          <p:cNvSpPr/>
          <p:nvPr/>
        </p:nvSpPr>
        <p:spPr>
          <a:xfrm>
            <a:off x="629979" y="3237459"/>
            <a:ext cx="2681474" cy="973782"/>
          </a:xfrm>
          <a:prstGeom prst="rect">
            <a:avLst/>
          </a:prstGeom>
          <a:noFill/>
          <a:ln/>
        </p:spPr>
        <p:txBody>
          <a:bodyPr wrap="square" lIns="0" tIns="0" rIns="0" bIns="0" rtlCol="0" anchor="t">
            <a:spAutoFit/>
          </a:bodyPr>
          <a:lstStyle/>
          <a:p>
            <a:pPr marL="0" indent="0" algn="l">
              <a:lnSpc>
                <a:spcPct val="113600"/>
              </a:lnSpc>
              <a:buNone/>
            </a:pPr>
            <a:r>
              <a:rPr lang="en-US" sz="1400" b="1" dirty="0">
                <a:solidFill>
                  <a:srgbClr val="1F2D6B"/>
                </a:solidFill>
                <a:latin typeface="Times New Roman" pitchFamily="34" charset="0"/>
                <a:ea typeface="Times New Roman" pitchFamily="34" charset="-122"/>
                <a:cs typeface="Times New Roman" pitchFamily="34" charset="-120"/>
              </a:rPr>
              <a:t>Scénarios possibles :
Créer un compte · affecter un agent · signaler un incident · suivre une demande</a:t>
            </a:r>
            <a:endParaRPr lang="en-US" sz="1400" dirty="0"/>
          </a:p>
        </p:txBody>
      </p:sp>
      <p:sp>
        <p:nvSpPr>
          <p:cNvPr id="8" name="Shape 5"/>
          <p:cNvSpPr/>
          <p:nvPr/>
        </p:nvSpPr>
        <p:spPr>
          <a:xfrm>
            <a:off x="106327" y="234614"/>
            <a:ext cx="8761226" cy="469889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657321" y="4211241"/>
            <a:ext cx="493934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Rectangle 9"/>
          <p:cNvSpPr/>
          <p:nvPr/>
        </p:nvSpPr>
        <p:spPr>
          <a:xfrm>
            <a:off x="7253921" y="4935245"/>
            <a:ext cx="1715486" cy="276999"/>
          </a:xfrm>
          <a:prstGeom prst="rect">
            <a:avLst/>
          </a:prstGeom>
        </p:spPr>
        <p:txBody>
          <a:bodyPr wrap="square">
            <a:spAutoFit/>
          </a:bodyPr>
          <a:lstStyle/>
          <a:p>
            <a:r>
              <a:rPr lang="fr-FR" sz="1200">
                <a:solidFill>
                  <a:srgbClr val="002060"/>
                </a:solidFill>
                <a:latin typeface="Times New Roman"/>
              </a:rPr>
              <a:t>Projet tutoriel   |   </a:t>
            </a:r>
            <a:r>
              <a:rPr lang="fr-FR" sz="1200" smtClean="0">
                <a:solidFill>
                  <a:srgbClr val="002060"/>
                </a:solidFill>
                <a:latin typeface="Times New Roman"/>
              </a:rPr>
              <a:t>18/21</a:t>
            </a:r>
            <a:endParaRPr lang="fr-FR" sz="1200"/>
          </a:p>
        </p:txBody>
      </p:sp>
    </p:spTree>
    <p:extLst>
      <p:ext uri="{BB962C8B-B14F-4D97-AF65-F5344CB8AC3E}">
        <p14:creationId xmlns:p14="http://schemas.microsoft.com/office/powerpoint/2010/main" val="37252878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ext 0"/>
          <p:cNvSpPr/>
          <p:nvPr/>
        </p:nvSpPr>
        <p:spPr>
          <a:xfrm>
            <a:off x="36371" y="0"/>
            <a:ext cx="8515350" cy="430887"/>
          </a:xfrm>
          <a:prstGeom prst="rect">
            <a:avLst/>
          </a:prstGeom>
          <a:noFill/>
          <a:ln/>
        </p:spPr>
        <p:txBody>
          <a:bodyPr wrap="square" lIns="0" tIns="0" rIns="0" bIns="0" rtlCol="0" anchor="t">
            <a:spAutoFit/>
          </a:bodyPr>
          <a:lstStyle/>
          <a:p>
            <a:r>
              <a:rPr lang="en-US" sz="1400" b="1">
                <a:solidFill>
                  <a:schemeClr val="accent5"/>
                </a:solidFill>
                <a:latin typeface="Times New Roman" pitchFamily="34" charset="0"/>
                <a:ea typeface="Times New Roman" pitchFamily="34" charset="-122"/>
                <a:cs typeface="Times New Roman" pitchFamily="34" charset="-120"/>
              </a:rPr>
              <a:t>4</a:t>
            </a:r>
            <a:r>
              <a:rPr lang="en-US" sz="1400" b="1" smtClean="0">
                <a:solidFill>
                  <a:schemeClr val="accent5"/>
                </a:solidFill>
                <a:latin typeface="Times New Roman" pitchFamily="34" charset="0"/>
                <a:ea typeface="Times New Roman" pitchFamily="34" charset="-122"/>
                <a:cs typeface="Times New Roman" pitchFamily="34" charset="-120"/>
              </a:rPr>
              <a:t>-DIAGRAMME </a:t>
            </a:r>
            <a:r>
              <a:rPr lang="en-US" sz="1400" b="1">
                <a:solidFill>
                  <a:schemeClr val="accent5"/>
                </a:solidFill>
                <a:latin typeface="Times New Roman" pitchFamily="34" charset="0"/>
                <a:ea typeface="Times New Roman" pitchFamily="34" charset="-122"/>
                <a:cs typeface="Times New Roman" pitchFamily="34" charset="-120"/>
              </a:rPr>
              <a:t>DE SÉQUENCE</a:t>
            </a:r>
            <a:endParaRPr lang="en-US" sz="1400">
              <a:solidFill>
                <a:schemeClr val="accent5"/>
              </a:solidFill>
            </a:endParaRPr>
          </a:p>
          <a:p>
            <a:pPr marL="0" indent="0" algn="l">
              <a:buNone/>
            </a:pPr>
            <a:endParaRPr lang="en-US" sz="1400" dirty="0">
              <a:solidFill>
                <a:schemeClr val="accent5"/>
              </a:solidFill>
            </a:endParaRPr>
          </a:p>
        </p:txBody>
      </p:sp>
      <p:sp>
        <p:nvSpPr>
          <p:cNvPr id="4" name="Shape 1"/>
          <p:cNvSpPr/>
          <p:nvPr/>
        </p:nvSpPr>
        <p:spPr>
          <a:xfrm>
            <a:off x="628650" y="1157288"/>
            <a:ext cx="2681474" cy="1772878"/>
          </a:xfrm>
          <a:prstGeom prst="rect">
            <a:avLst/>
          </a:prstGeom>
          <a:solidFill>
            <a:srgbClr val="FFF8EF"/>
          </a:solidFill>
          <a:ln w="18288">
            <a:solidFill>
              <a:srgbClr val="F47C17"/>
            </a:solidFill>
            <a:prstDash val="solid"/>
          </a:ln>
        </p:spPr>
      </p:sp>
      <p:sp>
        <p:nvSpPr>
          <p:cNvPr id="5" name="Text 2"/>
          <p:cNvSpPr/>
          <p:nvPr/>
        </p:nvSpPr>
        <p:spPr>
          <a:xfrm>
            <a:off x="771525" y="1314450"/>
            <a:ext cx="2395724" cy="215444"/>
          </a:xfrm>
          <a:prstGeom prst="rect">
            <a:avLst/>
          </a:prstGeom>
          <a:noFill/>
          <a:ln/>
        </p:spPr>
        <p:txBody>
          <a:bodyPr wrap="square" lIns="0" tIns="0" rIns="0" bIns="0" rtlCol="0" anchor="t">
            <a:spAutoFit/>
          </a:bodyPr>
          <a:lstStyle/>
          <a:p>
            <a:pPr marL="0" indent="0" algn="l">
              <a:buNone/>
            </a:pPr>
            <a:r>
              <a:rPr lang="en-US" sz="1400" b="1" dirty="0">
                <a:solidFill>
                  <a:srgbClr val="F47C17"/>
                </a:solidFill>
                <a:latin typeface="Times New Roman" pitchFamily="34" charset="0"/>
                <a:ea typeface="Times New Roman" pitchFamily="34" charset="-122"/>
                <a:cs typeface="Times New Roman" pitchFamily="34" charset="-120"/>
              </a:rPr>
              <a:t>RÔLE DU DIAGRAMME</a:t>
            </a:r>
            <a:endParaRPr lang="en-US" sz="1400" dirty="0"/>
          </a:p>
        </p:txBody>
      </p:sp>
      <p:sp>
        <p:nvSpPr>
          <p:cNvPr id="6" name="Text 3"/>
          <p:cNvSpPr/>
          <p:nvPr/>
        </p:nvSpPr>
        <p:spPr>
          <a:xfrm>
            <a:off x="771525" y="1596628"/>
            <a:ext cx="2395724" cy="1184940"/>
          </a:xfrm>
          <a:prstGeom prst="rect">
            <a:avLst/>
          </a:prstGeom>
          <a:noFill/>
          <a:ln/>
        </p:spPr>
        <p:txBody>
          <a:bodyPr wrap="square" lIns="0" tIns="0" rIns="0" bIns="0" rtlCol="0" anchor="t">
            <a:spAutoFit/>
          </a:bodyPr>
          <a:lstStyle/>
          <a:p>
            <a:pPr marL="0" indent="0" algn="l">
              <a:lnSpc>
                <a:spcPct val="110400"/>
              </a:lnSpc>
              <a:buNone/>
            </a:pPr>
            <a:r>
              <a:rPr lang="en-US" sz="1400" dirty="0">
                <a:solidFill>
                  <a:srgbClr val="000000"/>
                </a:solidFill>
                <a:latin typeface="Times New Roman" pitchFamily="34" charset="0"/>
                <a:ea typeface="Times New Roman" pitchFamily="34" charset="-122"/>
                <a:cs typeface="Times New Roman" pitchFamily="34" charset="-120"/>
              </a:rPr>
              <a:t>Le diagramme de séquence montre l’ordre chronologique des messages échangés entre les acteurs et les éléments de la plateforme.</a:t>
            </a:r>
            <a:endParaRPr lang="en-US" sz="1400" dirty="0"/>
          </a:p>
        </p:txBody>
      </p:sp>
      <p:sp>
        <p:nvSpPr>
          <p:cNvPr id="7" name="Text 4"/>
          <p:cNvSpPr/>
          <p:nvPr/>
        </p:nvSpPr>
        <p:spPr>
          <a:xfrm>
            <a:off x="629979" y="3237459"/>
            <a:ext cx="2681474" cy="231602"/>
          </a:xfrm>
          <a:prstGeom prst="rect">
            <a:avLst/>
          </a:prstGeom>
          <a:noFill/>
          <a:ln/>
        </p:spPr>
        <p:txBody>
          <a:bodyPr wrap="square" lIns="0" tIns="0" rIns="0" bIns="0" rtlCol="0" anchor="t">
            <a:spAutoFit/>
          </a:bodyPr>
          <a:lstStyle/>
          <a:p>
            <a:pPr marL="0" indent="0" algn="l">
              <a:lnSpc>
                <a:spcPct val="113600"/>
              </a:lnSpc>
              <a:buNone/>
            </a:pPr>
            <a:endParaRPr lang="en-US" sz="1400" dirty="0"/>
          </a:p>
        </p:txBody>
      </p:sp>
      <p:sp>
        <p:nvSpPr>
          <p:cNvPr id="8" name="Shape 5"/>
          <p:cNvSpPr/>
          <p:nvPr/>
        </p:nvSpPr>
        <p:spPr>
          <a:xfrm>
            <a:off x="159489" y="308345"/>
            <a:ext cx="8782492" cy="4540102"/>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27432">
            <a:solidFill>
              <a:srgbClr val="1F2D6B"/>
            </a:solidFill>
            <a:prstDash val="solid"/>
          </a:ln>
        </p:spPr>
      </p:sp>
      <p:sp>
        <p:nvSpPr>
          <p:cNvPr id="9" name="Text 6"/>
          <p:cNvSpPr/>
          <p:nvPr/>
        </p:nvSpPr>
        <p:spPr>
          <a:xfrm>
            <a:off x="3657321" y="4211241"/>
            <a:ext cx="4939345" cy="215444"/>
          </a:xfrm>
          <a:prstGeom prst="rect">
            <a:avLst/>
          </a:prstGeom>
          <a:noFill/>
          <a:ln/>
        </p:spPr>
        <p:txBody>
          <a:bodyPr wrap="square" lIns="0" tIns="0" rIns="0" bIns="0" rtlCol="0" anchor="t">
            <a:spAutoFit/>
          </a:bodyPr>
          <a:lstStyle/>
          <a:p>
            <a:pPr marL="0" indent="0" algn="ctr">
              <a:buNone/>
            </a:pPr>
            <a:endParaRPr lang="en-US" sz="1400" dirty="0"/>
          </a:p>
        </p:txBody>
      </p:sp>
      <p:sp>
        <p:nvSpPr>
          <p:cNvPr id="10" name="Rectangle 9"/>
          <p:cNvSpPr/>
          <p:nvPr/>
        </p:nvSpPr>
        <p:spPr>
          <a:xfrm>
            <a:off x="6730409" y="4925959"/>
            <a:ext cx="2211572" cy="276999"/>
          </a:xfrm>
          <a:prstGeom prst="rect">
            <a:avLst/>
          </a:prstGeom>
        </p:spPr>
        <p:txBody>
          <a:bodyPr wrap="square">
            <a:spAutoFit/>
          </a:bodyPr>
          <a:lstStyle/>
          <a:p>
            <a:r>
              <a:rPr lang="fr-FR" sz="1200" smtClean="0">
                <a:solidFill>
                  <a:srgbClr val="002060"/>
                </a:solidFill>
                <a:latin typeface="Times New Roman"/>
              </a:rPr>
              <a:t>            Projet </a:t>
            </a:r>
            <a:r>
              <a:rPr lang="fr-FR" sz="1200">
                <a:solidFill>
                  <a:srgbClr val="002060"/>
                </a:solidFill>
                <a:latin typeface="Times New Roman"/>
              </a:rPr>
              <a:t>tutoriel   |   </a:t>
            </a:r>
            <a:r>
              <a:rPr lang="fr-FR" sz="1200" smtClean="0">
                <a:solidFill>
                  <a:srgbClr val="002060"/>
                </a:solidFill>
                <a:latin typeface="Times New Roman"/>
              </a:rPr>
              <a:t>1</a:t>
            </a:r>
            <a:r>
              <a:rPr lang="fr-FR" sz="1200" smtClean="0">
                <a:solidFill>
                  <a:srgbClr val="002060"/>
                </a:solidFill>
                <a:latin typeface="Times New Roman"/>
              </a:rPr>
              <a:t>9/20</a:t>
            </a:r>
            <a:endParaRPr lang="fr-FR" sz="1200"/>
          </a:p>
        </p:txBody>
      </p:sp>
    </p:spTree>
    <p:extLst>
      <p:ext uri="{BB962C8B-B14F-4D97-AF65-F5344CB8AC3E}">
        <p14:creationId xmlns:p14="http://schemas.microsoft.com/office/powerpoint/2010/main" val="8698097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Shape 0"/>
          <p:cNvSpPr/>
          <p:nvPr/>
        </p:nvSpPr>
        <p:spPr>
          <a:xfrm>
            <a:off x="-1071562" y="428625"/>
            <a:ext cx="4286250" cy="4286250"/>
          </a:xfrm>
          <a:prstGeom prst="ellipse">
            <a:avLst/>
          </a:prstGeom>
          <a:solidFill>
            <a:srgbClr val="1A237E"/>
          </a:solidFill>
          <a:ln w="73152">
            <a:solidFill>
              <a:srgbClr val="FF6D00"/>
            </a:solidFill>
            <a:prstDash val="solid"/>
          </a:ln>
        </p:spPr>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71562" y="428625"/>
            <a:ext cx="4286250" cy="4286250"/>
          </a:xfrm>
          <a:prstGeom prst="rect">
            <a:avLst/>
          </a:prstGeom>
        </p:spPr>
      </p:pic>
      <p:sp>
        <p:nvSpPr>
          <p:cNvPr id="6" name="Text 1"/>
          <p:cNvSpPr/>
          <p:nvPr/>
        </p:nvSpPr>
        <p:spPr>
          <a:xfrm>
            <a:off x="4214813" y="1356168"/>
            <a:ext cx="4357688" cy="417909"/>
          </a:xfrm>
          <a:prstGeom prst="rect">
            <a:avLst/>
          </a:prstGeom>
          <a:noFill/>
          <a:ln/>
        </p:spPr>
        <p:txBody>
          <a:bodyPr wrap="square" lIns="0" tIns="0" rIns="0" bIns="0" rtlCol="0" anchor="t">
            <a:spAutoFit/>
          </a:bodyPr>
          <a:lstStyle/>
          <a:p>
            <a:pPr marL="0" indent="0" algn="l">
              <a:buNone/>
            </a:pPr>
            <a:r>
              <a:rPr lang="en-US" sz="2450" b="1" dirty="0">
                <a:solidFill>
                  <a:srgbClr val="1A237E"/>
                </a:solidFill>
                <a:latin typeface="Montserrat ExtraBold" pitchFamily="34" charset="0"/>
                <a:ea typeface="Montserrat ExtraBold" pitchFamily="34" charset="-122"/>
                <a:cs typeface="Montserrat ExtraBold" pitchFamily="34" charset="-120"/>
              </a:rPr>
              <a:t>CONCLUSION</a:t>
            </a:r>
            <a:endParaRPr lang="en-US" sz="2450" dirty="0"/>
          </a:p>
        </p:txBody>
      </p:sp>
      <p:sp>
        <p:nvSpPr>
          <p:cNvPr id="7" name="Text 2"/>
          <p:cNvSpPr/>
          <p:nvPr/>
        </p:nvSpPr>
        <p:spPr>
          <a:xfrm>
            <a:off x="3810776" y="2148074"/>
            <a:ext cx="4652740" cy="1860253"/>
          </a:xfrm>
          <a:prstGeom prst="rect">
            <a:avLst/>
          </a:prstGeom>
          <a:noFill/>
          <a:ln/>
        </p:spPr>
        <p:txBody>
          <a:bodyPr wrap="square" lIns="0" tIns="0" rIns="0" bIns="0" rtlCol="0" anchor="t">
            <a:spAutoFit/>
          </a:bodyPr>
          <a:lstStyle/>
          <a:p>
            <a:pPr>
              <a:lnSpc>
                <a:spcPct val="128000"/>
              </a:lnSpc>
            </a:pPr>
            <a:r>
              <a:rPr lang="en-US" sz="1600">
                <a:solidFill>
                  <a:srgbClr val="000000"/>
                </a:solidFill>
                <a:latin typeface="Times New Roman" pitchFamily="34" charset="0"/>
                <a:ea typeface="Montserrat ExtraBold"/>
                <a:cs typeface="Times New Roman" pitchFamily="34" charset="-120"/>
              </a:rPr>
              <a:t>Le projet répond à un besoin concret de l’UASZ. Sa réussite dépendra d’une définition précise des rôles, d’une base de données cohérente, de règles de gestion claires, de tests sérieux et d’une protection rigoureuse des informations.</a:t>
            </a:r>
            <a:endParaRPr lang="en-US" sz="1600">
              <a:ea typeface="Montserrat ExtraBold"/>
            </a:endParaRPr>
          </a:p>
          <a:p>
            <a:pPr marL="0" indent="0" algn="l">
              <a:lnSpc>
                <a:spcPct val="128000"/>
              </a:lnSpc>
              <a:buNone/>
            </a:pPr>
            <a:endParaRPr lang="en-US" sz="1600" dirty="0">
              <a:latin typeface="Times New Roman" panose="02020603050405020304" pitchFamily="18" charset="0"/>
              <a:ea typeface="Montserrat ExtraBold"/>
              <a:cs typeface="Times New Roman" panose="02020603050405020304" pitchFamily="18" charset="0"/>
            </a:endParaRPr>
          </a:p>
        </p:txBody>
      </p:sp>
      <p:sp>
        <p:nvSpPr>
          <p:cNvPr id="8" name="Text 3"/>
          <p:cNvSpPr/>
          <p:nvPr/>
        </p:nvSpPr>
        <p:spPr>
          <a:xfrm>
            <a:off x="4214813" y="3898869"/>
            <a:ext cx="4357688" cy="307777"/>
          </a:xfrm>
          <a:prstGeom prst="rect">
            <a:avLst/>
          </a:prstGeom>
          <a:noFill/>
          <a:ln/>
        </p:spPr>
        <p:txBody>
          <a:bodyPr wrap="square" lIns="0" tIns="0" rIns="0" bIns="0" rtlCol="0" anchor="t">
            <a:spAutoFit/>
          </a:bodyPr>
          <a:lstStyle/>
          <a:p>
            <a:pPr marL="0" indent="0" algn="l">
              <a:buNone/>
            </a:pPr>
            <a:endParaRPr lang="en-US" sz="2000" dirty="0"/>
          </a:p>
        </p:txBody>
      </p:sp>
      <p:sp>
        <p:nvSpPr>
          <p:cNvPr id="2" name="Rectangle 1"/>
          <p:cNvSpPr/>
          <p:nvPr/>
        </p:nvSpPr>
        <p:spPr>
          <a:xfrm>
            <a:off x="7002067" y="4822667"/>
            <a:ext cx="2141933" cy="338554"/>
          </a:xfrm>
          <a:prstGeom prst="rect">
            <a:avLst/>
          </a:prstGeom>
        </p:spPr>
        <p:txBody>
          <a:bodyPr wrap="none">
            <a:spAutoFit/>
          </a:bodyPr>
          <a:lstStyle/>
          <a:p>
            <a:r>
              <a:rPr lang="fr-FR" sz="1600">
                <a:solidFill>
                  <a:srgbClr val="002060"/>
                </a:solidFill>
                <a:latin typeface="Times New Roman"/>
              </a:rPr>
              <a:t>Projet tutoriel   |   </a:t>
            </a:r>
            <a:r>
              <a:rPr lang="fr-FR" sz="1600" smtClean="0">
                <a:solidFill>
                  <a:srgbClr val="002060"/>
                </a:solidFill>
                <a:latin typeface="Times New Roman"/>
              </a:rPr>
              <a:t>20/20</a:t>
            </a:r>
            <a:endParaRPr lang="fr-FR" sz="1600"/>
          </a:p>
        </p:txBody>
      </p:sp>
    </p:spTree>
    <p:extLst>
      <p:ext uri="{BB962C8B-B14F-4D97-AF65-F5344CB8AC3E}">
        <p14:creationId xmlns:p14="http://schemas.microsoft.com/office/powerpoint/2010/main" val="6892069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80">
                                          <p:stCondLst>
                                            <p:cond delay="0"/>
                                          </p:stCondLst>
                                        </p:cTn>
                                        <p:tgtEl>
                                          <p:spTgt spid="8">
                                            <p:txEl>
                                              <p:pRg st="0" end="0"/>
                                            </p:txEl>
                                          </p:spTgt>
                                        </p:tgtEl>
                                      </p:cBhvr>
                                    </p:animEffect>
                                    <p:anim calcmode="lin" valueType="num">
                                      <p:cBhvr>
                                        <p:cTn id="8"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xEl>
                                              <p:pRg st="0" end="0"/>
                                            </p:txEl>
                                          </p:spTgt>
                                        </p:tgtEl>
                                      </p:cBhvr>
                                      <p:to x="100000" y="60000"/>
                                    </p:animScale>
                                    <p:animScale>
                                      <p:cBhvr>
                                        <p:cTn id="14" dur="166" decel="50000">
                                          <p:stCondLst>
                                            <p:cond delay="676"/>
                                          </p:stCondLst>
                                        </p:cTn>
                                        <p:tgtEl>
                                          <p:spTgt spid="8">
                                            <p:txEl>
                                              <p:pRg st="0" end="0"/>
                                            </p:txEl>
                                          </p:spTgt>
                                        </p:tgtEl>
                                      </p:cBhvr>
                                      <p:to x="100000" y="100000"/>
                                    </p:animScale>
                                    <p:animScale>
                                      <p:cBhvr>
                                        <p:cTn id="15" dur="26">
                                          <p:stCondLst>
                                            <p:cond delay="1312"/>
                                          </p:stCondLst>
                                        </p:cTn>
                                        <p:tgtEl>
                                          <p:spTgt spid="8">
                                            <p:txEl>
                                              <p:pRg st="0" end="0"/>
                                            </p:txEl>
                                          </p:spTgt>
                                        </p:tgtEl>
                                      </p:cBhvr>
                                      <p:to x="100000" y="80000"/>
                                    </p:animScale>
                                    <p:animScale>
                                      <p:cBhvr>
                                        <p:cTn id="16" dur="166" decel="50000">
                                          <p:stCondLst>
                                            <p:cond delay="1338"/>
                                          </p:stCondLst>
                                        </p:cTn>
                                        <p:tgtEl>
                                          <p:spTgt spid="8">
                                            <p:txEl>
                                              <p:pRg st="0" end="0"/>
                                            </p:txEl>
                                          </p:spTgt>
                                        </p:tgtEl>
                                      </p:cBhvr>
                                      <p:to x="100000" y="100000"/>
                                    </p:animScale>
                                    <p:animScale>
                                      <p:cBhvr>
                                        <p:cTn id="17" dur="26">
                                          <p:stCondLst>
                                            <p:cond delay="1642"/>
                                          </p:stCondLst>
                                        </p:cTn>
                                        <p:tgtEl>
                                          <p:spTgt spid="8">
                                            <p:txEl>
                                              <p:pRg st="0" end="0"/>
                                            </p:txEl>
                                          </p:spTgt>
                                        </p:tgtEl>
                                      </p:cBhvr>
                                      <p:to x="100000" y="90000"/>
                                    </p:animScale>
                                    <p:animScale>
                                      <p:cBhvr>
                                        <p:cTn id="18" dur="166" decel="50000">
                                          <p:stCondLst>
                                            <p:cond delay="1668"/>
                                          </p:stCondLst>
                                        </p:cTn>
                                        <p:tgtEl>
                                          <p:spTgt spid="8">
                                            <p:txEl>
                                              <p:pRg st="0" end="0"/>
                                            </p:txEl>
                                          </p:spTgt>
                                        </p:tgtEl>
                                      </p:cBhvr>
                                      <p:to x="100000" y="100000"/>
                                    </p:animScale>
                                    <p:animScale>
                                      <p:cBhvr>
                                        <p:cTn id="19" dur="26">
                                          <p:stCondLst>
                                            <p:cond delay="1808"/>
                                          </p:stCondLst>
                                        </p:cTn>
                                        <p:tgtEl>
                                          <p:spTgt spid="8">
                                            <p:txEl>
                                              <p:pRg st="0" end="0"/>
                                            </p:txEl>
                                          </p:spTgt>
                                        </p:tgtEl>
                                      </p:cBhvr>
                                      <p:to x="100000" y="95000"/>
                                    </p:animScale>
                                    <p:animScale>
                                      <p:cBhvr>
                                        <p:cTn id="20" dur="166" decel="50000">
                                          <p:stCondLst>
                                            <p:cond delay="1834"/>
                                          </p:stCondLst>
                                        </p:cTn>
                                        <p:tgtEl>
                                          <p:spTgt spid="8">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endParaRPr lang="en-US" sz="1350" b="1">
              <a:solidFill>
                <a:srgbClr val="1A237E"/>
              </a:solidFill>
              <a:latin typeface="Montserrat ExtraBold" pitchFamily="34" charset="0"/>
              <a:ea typeface="Montserrat ExtraBold" pitchFamily="34" charset="-122"/>
              <a:cs typeface="Montserrat ExtraBold" pitchFamily="34" charset="-120"/>
            </a:endParaRPr>
          </a:p>
          <a:p>
            <a:r>
              <a:rPr lang="en-US" sz="1350" b="1">
                <a:solidFill>
                  <a:srgbClr val="1A237E"/>
                </a:solidFill>
                <a:latin typeface="Montserrat ExtraBold" pitchFamily="34" charset="0"/>
                <a:ea typeface="Montserrat ExtraBold" pitchFamily="34" charset="-122"/>
                <a:cs typeface="Montserrat ExtraBold" pitchFamily="34" charset="-120"/>
              </a:rPr>
              <a:t>                                                     </a:t>
            </a:r>
          </a:p>
          <a:p>
            <a:endParaRPr lang="en-US" sz="1350" b="1">
              <a:solidFill>
                <a:srgbClr val="1A237E"/>
              </a:solidFill>
              <a:latin typeface="Montserrat ExtraBold" pitchFamily="34" charset="0"/>
              <a:ea typeface="Montserrat ExtraBold" pitchFamily="34" charset="-122"/>
              <a:cs typeface="Montserrat ExtraBold" pitchFamily="34" charset="-120"/>
            </a:endParaRPr>
          </a:p>
          <a:p>
            <a:r>
              <a:rPr lang="en-US" sz="1350" b="1">
                <a:solidFill>
                  <a:srgbClr val="1A237E"/>
                </a:solidFill>
                <a:latin typeface="Montserrat ExtraBold" pitchFamily="34" charset="0"/>
                <a:ea typeface="Montserrat ExtraBold" pitchFamily="34" charset="-122"/>
                <a:cs typeface="Montserrat ExtraBold" pitchFamily="34" charset="-120"/>
              </a:rPr>
              <a:t>                                                        </a:t>
            </a:r>
            <a:r>
              <a:rPr lang="en-US" sz="1500" b="1">
                <a:solidFill>
                  <a:srgbClr val="002060"/>
                </a:solidFill>
                <a:latin typeface="Montserrat ExtraBold" pitchFamily="34" charset="0"/>
                <a:ea typeface="Montserrat ExtraBold" pitchFamily="34" charset="-122"/>
                <a:cs typeface="Montserrat ExtraBold" pitchFamily="34" charset="-120"/>
              </a:rPr>
              <a:t>MERCI </a:t>
            </a:r>
            <a:r>
              <a:rPr lang="en-US" sz="1500" b="1">
                <a:solidFill>
                  <a:srgbClr val="002060"/>
                </a:solidFill>
                <a:latin typeface="Montserrat ExtraBold" pitchFamily="34" charset="0"/>
                <a:ea typeface="Montserrat ExtraBold" pitchFamily="34" charset="-122"/>
                <a:cs typeface="Montserrat ExtraBold" pitchFamily="34" charset="-120"/>
              </a:rPr>
              <a:t>DE VOTRE ATTENTION !</a:t>
            </a:r>
            <a:endParaRPr lang="en-US" sz="1500" dirty="0">
              <a:solidFill>
                <a:srgbClr val="002060"/>
              </a:solidFill>
            </a:endParaRPr>
          </a:p>
        </p:txBody>
      </p:sp>
      <p:sp>
        <p:nvSpPr>
          <p:cNvPr id="3" name="Rectangle 2"/>
          <p:cNvSpPr/>
          <p:nvPr/>
        </p:nvSpPr>
        <p:spPr>
          <a:xfrm>
            <a:off x="1" y="0"/>
            <a:ext cx="9143771" cy="37719"/>
          </a:xfrm>
          <a:prstGeom prst="rect">
            <a:avLst/>
          </a:prstGeom>
          <a:solidFill>
            <a:srgbClr val="10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0" y="0"/>
            <a:ext cx="2400300" cy="37719"/>
          </a:xfrm>
          <a:prstGeom prst="rect">
            <a:avLst/>
          </a:prstGeom>
          <a:solidFill>
            <a:srgbClr val="237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40030" y="240030"/>
            <a:ext cx="54864" cy="425196"/>
          </a:xfrm>
          <a:prstGeom prst="rect">
            <a:avLst/>
          </a:prstGeom>
          <a:solidFill>
            <a:srgbClr val="237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94895" y="240030"/>
            <a:ext cx="12344" cy="425196"/>
          </a:xfrm>
          <a:prstGeom prst="rect">
            <a:avLst/>
          </a:prstGeom>
          <a:solidFill>
            <a:srgbClr val="2C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445770" y="358036"/>
            <a:ext cx="4893904" cy="415498"/>
          </a:xfrm>
          <a:prstGeom prst="rect">
            <a:avLst/>
          </a:prstGeom>
          <a:noFill/>
        </p:spPr>
        <p:txBody>
          <a:bodyPr wrap="none" anchor="ctr">
            <a:spAutoFit/>
          </a:bodyPr>
          <a:lstStyle/>
          <a:p>
            <a:pPr algn="l"/>
            <a:r>
              <a:rPr sz="2100" b="1">
                <a:solidFill>
                  <a:srgbClr val="10375C"/>
                </a:solidFill>
                <a:latin typeface="Times New Roman"/>
              </a:rPr>
              <a:t>ACCÉDER </a:t>
            </a:r>
            <a:r>
              <a:rPr sz="2100" b="1">
                <a:solidFill>
                  <a:srgbClr val="10375C"/>
                </a:solidFill>
                <a:latin typeface="Times New Roman"/>
              </a:rPr>
              <a:t>AU </a:t>
            </a:r>
            <a:r>
              <a:rPr lang="fr-FR" sz="2100" b="1" smtClean="0">
                <a:solidFill>
                  <a:srgbClr val="10375C"/>
                </a:solidFill>
                <a:latin typeface="Times New Roman"/>
              </a:rPr>
              <a:t>RAPPORT DU </a:t>
            </a:r>
            <a:r>
              <a:rPr sz="2100" b="1" smtClean="0">
                <a:solidFill>
                  <a:srgbClr val="10375C"/>
                </a:solidFill>
                <a:latin typeface="Times New Roman"/>
              </a:rPr>
              <a:t>PROJET</a:t>
            </a:r>
            <a:endParaRPr sz="2100" b="1">
              <a:solidFill>
                <a:srgbClr val="10375C"/>
              </a:solidFill>
              <a:latin typeface="Times New Roman"/>
            </a:endParaRPr>
          </a:p>
        </p:txBody>
      </p:sp>
      <p:sp>
        <p:nvSpPr>
          <p:cNvPr id="8" name="TextBox 7"/>
          <p:cNvSpPr txBox="1"/>
          <p:nvPr/>
        </p:nvSpPr>
        <p:spPr>
          <a:xfrm>
            <a:off x="459487" y="814763"/>
            <a:ext cx="4735592" cy="276999"/>
          </a:xfrm>
          <a:prstGeom prst="rect">
            <a:avLst/>
          </a:prstGeom>
          <a:noFill/>
        </p:spPr>
        <p:txBody>
          <a:bodyPr wrap="none" anchor="ctr">
            <a:spAutoFit/>
          </a:bodyPr>
          <a:lstStyle/>
          <a:p>
            <a:pPr algn="l"/>
            <a:r>
              <a:rPr lang="fr-FR" sz="1200" smtClean="0">
                <a:solidFill>
                  <a:srgbClr val="5C6773"/>
                </a:solidFill>
                <a:latin typeface="Times New Roman"/>
              </a:rPr>
              <a:t>Rapport</a:t>
            </a:r>
            <a:r>
              <a:rPr sz="1200" smtClean="0">
                <a:solidFill>
                  <a:srgbClr val="5C6773"/>
                </a:solidFill>
                <a:latin typeface="Times New Roman"/>
              </a:rPr>
              <a:t>, </a:t>
            </a:r>
            <a:r>
              <a:rPr lang="fr-FR" sz="1200" smtClean="0">
                <a:solidFill>
                  <a:srgbClr val="5C6773"/>
                </a:solidFill>
                <a:latin typeface="Times New Roman"/>
              </a:rPr>
              <a:t>presentation</a:t>
            </a:r>
            <a:r>
              <a:rPr sz="1200" smtClean="0">
                <a:solidFill>
                  <a:srgbClr val="5C6773"/>
                </a:solidFill>
                <a:latin typeface="Times New Roman"/>
              </a:rPr>
              <a:t> </a:t>
            </a:r>
            <a:r>
              <a:rPr sz="1200">
                <a:solidFill>
                  <a:srgbClr val="5C6773"/>
                </a:solidFill>
                <a:latin typeface="Times New Roman"/>
              </a:rPr>
              <a:t>et </a:t>
            </a:r>
            <a:r>
              <a:rPr lang="fr-FR" sz="1200" smtClean="0">
                <a:solidFill>
                  <a:srgbClr val="5C6773"/>
                </a:solidFill>
                <a:latin typeface="Times New Roman"/>
              </a:rPr>
              <a:t>diagramme uml</a:t>
            </a:r>
            <a:r>
              <a:rPr sz="1200" smtClean="0">
                <a:solidFill>
                  <a:srgbClr val="5C6773"/>
                </a:solidFill>
                <a:latin typeface="Times New Roman"/>
              </a:rPr>
              <a:t> </a:t>
            </a:r>
            <a:r>
              <a:rPr sz="1200">
                <a:solidFill>
                  <a:srgbClr val="5C6773"/>
                </a:solidFill>
                <a:latin typeface="Times New Roman"/>
              </a:rPr>
              <a:t>du projet disponibles sur GitHub</a:t>
            </a:r>
          </a:p>
        </p:txBody>
      </p:sp>
      <p:sp>
        <p:nvSpPr>
          <p:cNvPr id="9" name="Rounded Rectangle 8"/>
          <p:cNvSpPr/>
          <p:nvPr/>
        </p:nvSpPr>
        <p:spPr>
          <a:xfrm>
            <a:off x="651510" y="1405889"/>
            <a:ext cx="1611630" cy="1611630"/>
          </a:xfrm>
          <a:prstGeom prst="roundRect">
            <a:avLst/>
          </a:prstGeom>
          <a:solidFill>
            <a:srgbClr val="191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TextBox 9"/>
          <p:cNvSpPr txBox="1"/>
          <p:nvPr/>
        </p:nvSpPr>
        <p:spPr>
          <a:xfrm>
            <a:off x="1077832" y="1668499"/>
            <a:ext cx="752130" cy="530915"/>
          </a:xfrm>
          <a:prstGeom prst="rect">
            <a:avLst/>
          </a:prstGeom>
          <a:noFill/>
        </p:spPr>
        <p:txBody>
          <a:bodyPr wrap="none" anchor="ctr">
            <a:spAutoFit/>
          </a:bodyPr>
          <a:lstStyle/>
          <a:p>
            <a:pPr algn="ctr"/>
            <a:r>
              <a:rPr sz="2850" b="1">
                <a:solidFill>
                  <a:srgbClr val="FFFFFF"/>
                </a:solidFill>
                <a:latin typeface="Times New Roman"/>
              </a:rPr>
              <a:t>GH</a:t>
            </a:r>
          </a:p>
        </p:txBody>
      </p:sp>
      <p:sp>
        <p:nvSpPr>
          <p:cNvPr id="11" name="TextBox 10"/>
          <p:cNvSpPr txBox="1"/>
          <p:nvPr/>
        </p:nvSpPr>
        <p:spPr>
          <a:xfrm>
            <a:off x="1029428" y="2286724"/>
            <a:ext cx="814647" cy="323165"/>
          </a:xfrm>
          <a:prstGeom prst="rect">
            <a:avLst/>
          </a:prstGeom>
          <a:noFill/>
        </p:spPr>
        <p:txBody>
          <a:bodyPr wrap="none" anchor="ctr">
            <a:spAutoFit/>
          </a:bodyPr>
          <a:lstStyle/>
          <a:p>
            <a:pPr algn="ctr"/>
            <a:r>
              <a:rPr sz="1500" b="1">
                <a:solidFill>
                  <a:srgbClr val="FFFFFF"/>
                </a:solidFill>
                <a:latin typeface="Times New Roman"/>
              </a:rPr>
              <a:t>GitHub</a:t>
            </a:r>
          </a:p>
        </p:txBody>
      </p:sp>
      <p:pic>
        <p:nvPicPr>
          <p:cNvPr id="12" name="Picture 11" descr="github_projet_qr.png"/>
          <p:cNvPicPr>
            <a:picLocks noChangeAspect="1"/>
          </p:cNvPicPr>
          <p:nvPr/>
        </p:nvPicPr>
        <p:blipFill>
          <a:blip r:embed="rId2"/>
          <a:stretch>
            <a:fillRect/>
          </a:stretch>
        </p:blipFill>
        <p:spPr>
          <a:xfrm>
            <a:off x="2743200" y="1371600"/>
            <a:ext cx="1817370" cy="1817370"/>
          </a:xfrm>
          <a:prstGeom prst="rect">
            <a:avLst/>
          </a:prstGeom>
        </p:spPr>
      </p:pic>
      <p:sp>
        <p:nvSpPr>
          <p:cNvPr id="13" name="TextBox 12"/>
          <p:cNvSpPr txBox="1"/>
          <p:nvPr/>
        </p:nvSpPr>
        <p:spPr>
          <a:xfrm>
            <a:off x="2620283" y="3278207"/>
            <a:ext cx="2090637" cy="219291"/>
          </a:xfrm>
          <a:prstGeom prst="rect">
            <a:avLst/>
          </a:prstGeom>
          <a:noFill/>
        </p:spPr>
        <p:txBody>
          <a:bodyPr wrap="none" anchor="ctr">
            <a:spAutoFit/>
          </a:bodyPr>
          <a:lstStyle/>
          <a:p>
            <a:pPr algn="ctr"/>
            <a:r>
              <a:rPr sz="825" b="1">
                <a:solidFill>
                  <a:srgbClr val="10375C"/>
                </a:solidFill>
                <a:latin typeface="Times New Roman"/>
              </a:rPr>
              <a:t>SCANNEZ POUR OUVRIR LE PROJET</a:t>
            </a:r>
          </a:p>
        </p:txBody>
      </p:sp>
      <p:sp>
        <p:nvSpPr>
          <p:cNvPr id="14" name="Rounded Rectangle 13"/>
          <p:cNvSpPr/>
          <p:nvPr/>
        </p:nvSpPr>
        <p:spPr>
          <a:xfrm>
            <a:off x="4834890" y="1337310"/>
            <a:ext cx="3531870" cy="2297430"/>
          </a:xfrm>
          <a:prstGeom prst="roundRect">
            <a:avLst/>
          </a:prstGeom>
          <a:solidFill>
            <a:srgbClr val="E2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TextBox 14"/>
          <p:cNvSpPr txBox="1"/>
          <p:nvPr/>
        </p:nvSpPr>
        <p:spPr>
          <a:xfrm>
            <a:off x="5088636" y="1598415"/>
            <a:ext cx="1610377" cy="369332"/>
          </a:xfrm>
          <a:prstGeom prst="rect">
            <a:avLst/>
          </a:prstGeom>
          <a:noFill/>
        </p:spPr>
        <p:txBody>
          <a:bodyPr wrap="none" anchor="ctr">
            <a:spAutoFit/>
          </a:bodyPr>
          <a:lstStyle/>
          <a:p>
            <a:pPr algn="l"/>
            <a:r>
              <a:rPr b="1">
                <a:solidFill>
                  <a:srgbClr val="10375C"/>
                </a:solidFill>
                <a:latin typeface="Times New Roman"/>
              </a:rPr>
              <a:t>Projet GitHub</a:t>
            </a:r>
          </a:p>
        </p:txBody>
      </p:sp>
      <p:sp>
        <p:nvSpPr>
          <p:cNvPr id="16" name="TextBox 15"/>
          <p:cNvSpPr txBox="1"/>
          <p:nvPr/>
        </p:nvSpPr>
        <p:spPr>
          <a:xfrm>
            <a:off x="5088637" y="1961132"/>
            <a:ext cx="2565702" cy="1077218"/>
          </a:xfrm>
          <a:prstGeom prst="rect">
            <a:avLst/>
          </a:prstGeom>
          <a:noFill/>
        </p:spPr>
        <p:txBody>
          <a:bodyPr wrap="none" anchor="ctr">
            <a:spAutoFit/>
          </a:bodyPr>
          <a:lstStyle/>
          <a:p>
            <a:pPr algn="l"/>
            <a:r>
              <a:rPr sz="1600" b="1">
                <a:solidFill>
                  <a:srgbClr val="191F26"/>
                </a:solidFill>
                <a:latin typeface="Times New Roman"/>
              </a:rPr>
              <a:t>Retrouvez :
</a:t>
            </a:r>
            <a:r>
              <a:rPr sz="1600" b="1">
                <a:solidFill>
                  <a:srgbClr val="191F26"/>
                </a:solidFill>
                <a:latin typeface="Times New Roman"/>
              </a:rPr>
              <a:t>• </a:t>
            </a:r>
            <a:r>
              <a:rPr lang="fr-FR" sz="1600" b="1" smtClean="0">
                <a:solidFill>
                  <a:srgbClr val="191F26"/>
                </a:solidFill>
                <a:latin typeface="Times New Roman"/>
              </a:rPr>
              <a:t>Rapport word</a:t>
            </a:r>
            <a:r>
              <a:rPr sz="1600" b="1">
                <a:solidFill>
                  <a:srgbClr val="191F26"/>
                </a:solidFill>
                <a:latin typeface="Times New Roman"/>
              </a:rPr>
              <a:t>
</a:t>
            </a:r>
            <a:r>
              <a:rPr sz="1600" b="1">
                <a:solidFill>
                  <a:srgbClr val="191F26"/>
                </a:solidFill>
                <a:latin typeface="Times New Roman"/>
              </a:rPr>
              <a:t>• </a:t>
            </a:r>
            <a:r>
              <a:rPr lang="fr-FR" sz="1600" b="1" smtClean="0">
                <a:solidFill>
                  <a:srgbClr val="191F26"/>
                </a:solidFill>
                <a:latin typeface="Times New Roman"/>
              </a:rPr>
              <a:t>Presentation power point </a:t>
            </a:r>
            <a:r>
              <a:rPr sz="1600" b="1">
                <a:solidFill>
                  <a:srgbClr val="191F26"/>
                </a:solidFill>
                <a:latin typeface="Times New Roman"/>
              </a:rPr>
              <a:t>
</a:t>
            </a:r>
            <a:r>
              <a:rPr sz="1600" b="1">
                <a:solidFill>
                  <a:srgbClr val="191F26"/>
                </a:solidFill>
                <a:latin typeface="Times New Roman"/>
              </a:rPr>
              <a:t>• </a:t>
            </a:r>
            <a:r>
              <a:rPr lang="fr-FR" sz="1600" b="1" smtClean="0">
                <a:solidFill>
                  <a:srgbClr val="191F26"/>
                </a:solidFill>
                <a:latin typeface="Times New Roman"/>
              </a:rPr>
              <a:t>Diagramme UML</a:t>
            </a:r>
            <a:endParaRPr sz="1600" b="1">
              <a:solidFill>
                <a:srgbClr val="191F26"/>
              </a:solidFill>
              <a:latin typeface="Times New Roman"/>
            </a:endParaRPr>
          </a:p>
        </p:txBody>
      </p:sp>
      <p:sp>
        <p:nvSpPr>
          <p:cNvPr id="17" name="Rounded Rectangle 16">
            <a:hlinkClick r:id="rId3"/>
          </p:cNvPr>
          <p:cNvSpPr/>
          <p:nvPr/>
        </p:nvSpPr>
        <p:spPr>
          <a:xfrm>
            <a:off x="5088636" y="3120390"/>
            <a:ext cx="2846070" cy="377190"/>
          </a:xfrm>
          <a:prstGeom prst="roundRect">
            <a:avLst/>
          </a:prstGeom>
          <a:solidFill>
            <a:srgbClr val="10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5393639" y="3176424"/>
            <a:ext cx="2242922" cy="230832"/>
          </a:xfrm>
          <a:prstGeom prst="rect">
            <a:avLst/>
          </a:prstGeom>
          <a:noFill/>
        </p:spPr>
        <p:txBody>
          <a:bodyPr wrap="none" anchor="ctr">
            <a:spAutoFit/>
          </a:bodyPr>
          <a:lstStyle/>
          <a:p>
            <a:pPr algn="ctr"/>
            <a:r>
              <a:rPr sz="900" b="1">
                <a:solidFill>
                  <a:srgbClr val="FFFFFF"/>
                </a:solidFill>
                <a:latin typeface="Times New Roman"/>
              </a:rPr>
              <a:t>OUVRIR LE PROJET SUR GITHUB  →</a:t>
            </a:r>
          </a:p>
        </p:txBody>
      </p:sp>
      <p:sp>
        <p:nvSpPr>
          <p:cNvPr id="19" name="Rounded Rectangle 18"/>
          <p:cNvSpPr/>
          <p:nvPr/>
        </p:nvSpPr>
        <p:spPr>
          <a:xfrm>
            <a:off x="685800" y="3922776"/>
            <a:ext cx="7646670" cy="425196"/>
          </a:xfrm>
          <a:prstGeom prst="roundRect">
            <a:avLst/>
          </a:prstGeom>
          <a:solidFill>
            <a:srgbClr val="F2F6F9"/>
          </a:solidFill>
          <a:ln>
            <a:solidFill>
              <a:srgbClr val="D2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TextBox 19">
            <a:hlinkClick r:id="rId3"/>
          </p:cNvPr>
          <p:cNvSpPr txBox="1"/>
          <p:nvPr/>
        </p:nvSpPr>
        <p:spPr>
          <a:xfrm>
            <a:off x="1856005" y="3971617"/>
            <a:ext cx="5306261" cy="300082"/>
          </a:xfrm>
          <a:prstGeom prst="rect">
            <a:avLst/>
          </a:prstGeom>
          <a:noFill/>
        </p:spPr>
        <p:txBody>
          <a:bodyPr wrap="none" anchor="ctr">
            <a:spAutoFit/>
          </a:bodyPr>
          <a:lstStyle/>
          <a:p>
            <a:pPr algn="ctr"/>
            <a:r>
              <a:rPr sz="1350">
                <a:solidFill>
                  <a:srgbClr val="00B0F0"/>
                </a:solidFill>
                <a:latin typeface="Times New Roman"/>
              </a:rPr>
              <a:t>https://github.com/mhdsene41-cmyk/prediction-diabete-machine-learning</a:t>
            </a:r>
          </a:p>
        </p:txBody>
      </p:sp>
      <p:sp>
        <p:nvSpPr>
          <p:cNvPr id="21" name="Ellipse 20"/>
          <p:cNvSpPr/>
          <p:nvPr/>
        </p:nvSpPr>
        <p:spPr>
          <a:xfrm>
            <a:off x="7162266" y="124047"/>
            <a:ext cx="1892595" cy="1036286"/>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457650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1692</TotalTime>
  <Words>1541</Words>
  <Application>Microsoft Office PowerPoint</Application>
  <PresentationFormat>Affichage à l'écran (16:9)</PresentationFormat>
  <Paragraphs>245</Paragraphs>
  <Slides>22</Slides>
  <Notes>21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Arial</vt:lpstr>
      <vt:lpstr>Calibri</vt:lpstr>
      <vt:lpstr>Calibri Light</vt:lpstr>
      <vt:lpstr>Montserrat ExtraBold</vt:lpstr>
      <vt:lpstr>Montserrat Light</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MHD</cp:lastModifiedBy>
  <cp:revision>67</cp:revision>
  <dcterms:created xsi:type="dcterms:W3CDTF">2026-08-07T12:04:57Z</dcterms:created>
  <dcterms:modified xsi:type="dcterms:W3CDTF">2026-10-20T22:50:13Z</dcterms:modified>
</cp:coreProperties>
</file>